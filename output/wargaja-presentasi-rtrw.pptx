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Bapak dan Ibu. Terima kasih sudah menyempatkan waktu. Hari ini kami memperkenalkan Wargaja, satu aplikasi untuk membantu urusan RT/RW. Presentasi ini sekitar sepuluh sampai lima belas menit, lalu kita buka tanya jawab. Aplikasi ini masih dalam tahap uji coba, jadi masukan Bapak dan Ibu sangat kami harapkan.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keluhan yang sering kita dengar di banyak lingkungan, bukan penilaian atas kerja pengurus. Silakan Bapak dan Ibu menyahut kalau pengalamannya berbeda. Tujuannya sederhana: kita tahu sama tahu apa yang bikin repot, supaya solusinya tepat.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Satu kalimat saja: semua urusan lingkungan dikumpulkan di satu tempat. Jadi tidak perlu lagi mencari pengumuman di grup chat, atau mencatat iuran di buku terpisah. Aplikasi ini tidak mengganti orangnya, hanya merapikan tempatnya.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iuran membantu bendahara. Pengurus bisa melihat siapa yang sudah dan belum membayar, dan riwayatnya tersimpan. Pembayaran tetap seperti biasa: warga membayar, lalu pengurus mencatat. Tidak ada pemotongan otomatis dari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Pengumuman resmi dan jadwal kegiatan tersimpan di aplikasi, jadi bisa dicari kembali kapan saja. Untuk sementara, pengumuman tetap kami bagikan juga lewat grup chat supaya tidak ada yang tertinggal. Aplikasi ini pelengkap, bukan pengganti kebiasaan kita berkumpul.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untuk pengurus. Data warga tersimpan rapi, laporan iuran bisa diunduh untuk rapat bulanan, dan permintaan surat tercatat. Yang perlu saya sampaikan terus terang: ringkasan keuangan di aplikasi masih memakai data contoh, jadi belum dijadikan patokan resmi sampai pengurus selesai menyiapkannya.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langkah saja. Daftar dengan nama, email, dan kata sandi; bisa juga memakai akun Google. Lalu masuk, dan mulai melihat iuran, pengumuman, serta kegiatan. Kalau ada yang tersendat, pengurus akan mendampingi — tidak perlu malu bertanya.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pengurus, pekerjaan menjadi lebih tertata. Untuk warga, informasi lebih mudah dicari dan tidak perlu menunggu giliran untuk hal-hal sederhana. Saya tidak akan menjanjikan semua pekerjaan manual langsung hilang — perubahannya bertahap.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Saya tidak akan mengklaim hal-hal yang belum bisa dibuktikan, misalnya soal enkripsi. Yang bisa saya pastikan: data diisi sendiri oleh warga, tampilan dan menu dipisah menurut peran, dan hanya pengurus terkait yang melihat data yang diperlukan. Aturan rincinya akan kita tetapkan bersama, dan kami terbuka kalau Bapak dan Ibu ingin membahasnya lebih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usulan tahapan, bukan jadwal yang sudah diputuskan. Tahap dua adalah uji coba terbatas: beberapa warga dan pengurus mencoba lebih dulu, lalu kita perbaiki yang kurang nyaman. Boleh saya tahu, siapa yang bersedia ikut uji coba terbatas?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atas waktunya, dan terima kasih atas semua masukan. Silakan bertanya apa saja, termasuk yang menurut Bapak dan Ibu menyulitkan. Kalau ada hal yang belum bisa saya jawab hari ini, akan saya catat dan saya kabari lewat [nama pengurus].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untuk berjaga-jaga. Lima pertanyaan yang paling sering muncul sudah disiapkan jawabannya. Kalau pertanyaannya belum ada di sini, catat dan jawab setelah pertemuan — jangan mengarang.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1.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629400" y="685800"/>
            <a:ext cx="6035040" cy="6035040"/>
          </a:xfrm>
          <a:prstGeom prst="ellipse">
            <a:avLst/>
          </a:prstGeom>
          <a:solidFill>
            <a:srgbClr val="FEAF0D"/>
          </a:solidFill>
          <a:ln w="3175">
            <a:solidFill>
              <a:srgbClr val="FEAF0D"/>
            </a:solidFill>
            <a:prstDash val="solid"/>
          </a:ln>
        </p:spPr>
      </p:sp>
      <p:pic>
        <p:nvPicPr>
          <p:cNvPr id="3" name="Image 0" descr="D:\Wargaja\assets\icons\app_icon.png">    </p:cNvPr>
          <p:cNvPicPr>
            <a:picLocks noChangeAspect="1"/>
          </p:cNvPicPr>
          <p:nvPr/>
        </p:nvPicPr>
        <p:blipFill>
          <a:blip r:embed="rId1"/>
          <a:stretch>
            <a:fillRect/>
          </a:stretch>
        </p:blipFill>
        <p:spPr>
          <a:xfrm>
            <a:off x="8759952" y="2816352"/>
            <a:ext cx="1783080" cy="1783080"/>
          </a:xfrm>
          <a:prstGeom prst="rect">
            <a:avLst/>
          </a:prstGeom>
        </p:spPr>
      </p:pic>
      <p:sp>
        <p:nvSpPr>
          <p:cNvPr id="4" name="Text 1"/>
          <p:cNvSpPr/>
          <p:nvPr/>
        </p:nvSpPr>
        <p:spPr>
          <a:xfrm>
            <a:off x="640080" y="1828800"/>
            <a:ext cx="5669280" cy="1097280"/>
          </a:xfrm>
          <a:prstGeom prst="rect">
            <a:avLst/>
          </a:prstGeom>
          <a:noFill/>
          <a:ln/>
        </p:spPr>
        <p:txBody>
          <a:bodyPr wrap="square" lIns="0" tIns="0" rIns="0" bIns="0" rtlCol="0" anchor="t"/>
          <a:lstStyle/>
          <a:p>
            <a:pPr indent="0" marL="0">
              <a:buNone/>
            </a:pPr>
            <a:r>
              <a:rPr lang="en-US" sz="5400" b="1" dirty="0">
                <a:solidFill>
                  <a:srgbClr val="2A2622"/>
                </a:solidFill>
                <a:latin typeface="Poppins" pitchFamily="34" charset="0"/>
                <a:ea typeface="Poppins" pitchFamily="34" charset="-122"/>
                <a:cs typeface="Poppins" pitchFamily="34" charset="-120"/>
              </a:rPr>
              <a:t>Wargaja</a:t>
            </a:r>
            <a:endParaRPr lang="en-US" sz="5400" dirty="0"/>
          </a:p>
        </p:txBody>
      </p:sp>
      <p:sp>
        <p:nvSpPr>
          <p:cNvPr id="5" name="Text 2"/>
          <p:cNvSpPr/>
          <p:nvPr/>
        </p:nvSpPr>
        <p:spPr>
          <a:xfrm>
            <a:off x="640080" y="3017520"/>
            <a:ext cx="5760720" cy="1143000"/>
          </a:xfrm>
          <a:prstGeom prst="rect">
            <a:avLst/>
          </a:prstGeom>
          <a:noFill/>
          <a:ln/>
        </p:spPr>
        <p:txBody>
          <a:bodyPr wrap="square" lIns="0" tIns="0" rIns="0" bIns="0" rtlCol="0" anchor="t"/>
          <a:lstStyle/>
          <a:p>
            <a:pPr indent="0" marL="0">
              <a:buNone/>
            </a:pPr>
            <a:r>
              <a:rPr lang="en-US" sz="3400" dirty="0">
                <a:solidFill>
                  <a:srgbClr val="8A5A00"/>
                </a:solidFill>
                <a:latin typeface="Poppins" pitchFamily="34" charset="0"/>
                <a:ea typeface="Poppins" pitchFamily="34" charset="-122"/>
                <a:cs typeface="Poppins" pitchFamily="34" charset="-120"/>
              </a:rPr>
              <a:t>Kelola RT/RW dengan mudah!</a:t>
            </a:r>
            <a:endParaRPr lang="en-US" sz="3400" dirty="0"/>
          </a:p>
        </p:txBody>
      </p:sp>
      <p:sp>
        <p:nvSpPr>
          <p:cNvPr id="6" name="Text 3"/>
          <p:cNvSpPr/>
          <p:nvPr/>
        </p:nvSpPr>
        <p:spPr>
          <a:xfrm>
            <a:off x="640080" y="4251960"/>
            <a:ext cx="5760720" cy="822960"/>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Tersedia di Android, iOS, dan web</a:t>
            </a:r>
            <a:endParaRPr lang="en-US" sz="2400" dirty="0"/>
          </a:p>
        </p:txBody>
      </p:sp>
      <p:sp>
        <p:nvSpPr>
          <p:cNvPr id="7" name="Text 4"/>
          <p:cNvSpPr/>
          <p:nvPr/>
        </p:nvSpPr>
        <p:spPr>
          <a:xfrm>
            <a:off x="640080" y="5166360"/>
            <a:ext cx="5760720" cy="73152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Sosialisasi untuk [nama RT/RW/perumahan]</a:t>
            </a:r>
            <a:endParaRPr lang="en-US" sz="2200" dirty="0"/>
          </a:p>
        </p:txBody>
      </p:sp>
      <p:sp>
        <p:nvSpPr>
          <p:cNvPr id="8" name="Text 5"/>
          <p:cNvSpPr/>
          <p:nvPr/>
        </p:nvSpPr>
        <p:spPr>
          <a:xfrm>
            <a:off x="640080" y="5943600"/>
            <a:ext cx="5760720" cy="3657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[tanggal presentasi]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Masalah yang sering terjadi</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2</a:t>
            </a:r>
            <a:endParaRPr lang="en-US" sz="1800" dirty="0"/>
          </a:p>
        </p:txBody>
      </p:sp>
      <p:sp>
        <p:nvSpPr>
          <p:cNvPr id="4" name="Shape 2"/>
          <p:cNvSpPr/>
          <p:nvPr/>
        </p:nvSpPr>
        <p:spPr>
          <a:xfrm>
            <a:off x="640080" y="1627632"/>
            <a:ext cx="603504" cy="603504"/>
          </a:xfrm>
          <a:prstGeom prst="ellipse">
            <a:avLst/>
          </a:prstGeom>
          <a:solidFill>
            <a:srgbClr val="FEAF0D"/>
          </a:solidFill>
          <a:ln w="3175">
            <a:solidFill>
              <a:srgbClr val="FEAF0D"/>
            </a:solidFill>
            <a:prstDash val="solid"/>
          </a:ln>
        </p:spPr>
      </p:sp>
      <p:pic>
        <p:nvPicPr>
          <p:cNvPr id="5" name="Image 0" descr="D:\Wargaja\output\source\icons\cost-2A2622.png">    </p:cNvPr>
          <p:cNvPicPr>
            <a:picLocks noChangeAspect="1"/>
          </p:cNvPicPr>
          <p:nvPr/>
        </p:nvPicPr>
        <p:blipFill>
          <a:blip r:embed="rId1"/>
          <a:stretch>
            <a:fillRect/>
          </a:stretch>
        </p:blipFill>
        <p:spPr>
          <a:xfrm>
            <a:off x="777240" y="1764792"/>
            <a:ext cx="329184" cy="329184"/>
          </a:xfrm>
          <a:prstGeom prst="rect">
            <a:avLst/>
          </a:prstGeom>
        </p:spPr>
      </p:pic>
      <p:sp>
        <p:nvSpPr>
          <p:cNvPr id="6" name="Text 3"/>
          <p:cNvSpPr/>
          <p:nvPr/>
        </p:nvSpPr>
        <p:spPr>
          <a:xfrm>
            <a:off x="1508760" y="1572768"/>
            <a:ext cx="10042855"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Catatan iuran masih manual</a:t>
            </a:r>
            <a:endParaRPr lang="en-US" sz="2400" dirty="0"/>
          </a:p>
        </p:txBody>
      </p:sp>
      <p:sp>
        <p:nvSpPr>
          <p:cNvPr id="7" name="Text 4"/>
          <p:cNvSpPr/>
          <p:nvPr/>
        </p:nvSpPr>
        <p:spPr>
          <a:xfrm>
            <a:off x="1508760" y="2048256"/>
            <a:ext cx="1004285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Buku kas dan catatan kertas mudah hilang atau keliru.</a:t>
            </a:r>
            <a:endParaRPr lang="en-US" sz="2200" dirty="0"/>
          </a:p>
        </p:txBody>
      </p:sp>
      <p:sp>
        <p:nvSpPr>
          <p:cNvPr id="8" name="Shape 5"/>
          <p:cNvSpPr/>
          <p:nvPr/>
        </p:nvSpPr>
        <p:spPr>
          <a:xfrm>
            <a:off x="640080" y="2724912"/>
            <a:ext cx="603504" cy="603504"/>
          </a:xfrm>
          <a:prstGeom prst="ellipse">
            <a:avLst/>
          </a:prstGeom>
          <a:solidFill>
            <a:srgbClr val="FEAF0D"/>
          </a:solidFill>
          <a:ln w="3175">
            <a:solidFill>
              <a:srgbClr val="FEAF0D"/>
            </a:solidFill>
            <a:prstDash val="solid"/>
          </a:ln>
        </p:spPr>
      </p:sp>
      <p:pic>
        <p:nvPicPr>
          <p:cNvPr id="9" name="Image 1" descr="D:\Wargaja\output\source\icons\chat-2A2622.png">    </p:cNvPr>
          <p:cNvPicPr>
            <a:picLocks noChangeAspect="1"/>
          </p:cNvPicPr>
          <p:nvPr/>
        </p:nvPicPr>
        <p:blipFill>
          <a:blip r:embed="rId2"/>
          <a:stretch>
            <a:fillRect/>
          </a:stretch>
        </p:blipFill>
        <p:spPr>
          <a:xfrm>
            <a:off x="777240" y="2862072"/>
            <a:ext cx="329184" cy="329184"/>
          </a:xfrm>
          <a:prstGeom prst="rect">
            <a:avLst/>
          </a:prstGeom>
        </p:spPr>
      </p:pic>
      <p:sp>
        <p:nvSpPr>
          <p:cNvPr id="10" name="Text 6"/>
          <p:cNvSpPr/>
          <p:nvPr/>
        </p:nvSpPr>
        <p:spPr>
          <a:xfrm>
            <a:off x="1508760" y="2670048"/>
            <a:ext cx="10042855"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Pengumuman tenggelam di grup chat</a:t>
            </a:r>
            <a:endParaRPr lang="en-US" sz="2400" dirty="0"/>
          </a:p>
        </p:txBody>
      </p:sp>
      <p:sp>
        <p:nvSpPr>
          <p:cNvPr id="11" name="Text 7"/>
          <p:cNvSpPr/>
          <p:nvPr/>
        </p:nvSpPr>
        <p:spPr>
          <a:xfrm>
            <a:off x="1508760" y="3145536"/>
            <a:ext cx="1004285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Informasi penting hilang tertimpa obrolan.</a:t>
            </a:r>
            <a:endParaRPr lang="en-US" sz="2200" dirty="0"/>
          </a:p>
        </p:txBody>
      </p:sp>
      <p:sp>
        <p:nvSpPr>
          <p:cNvPr id="12" name="Shape 8"/>
          <p:cNvSpPr/>
          <p:nvPr/>
        </p:nvSpPr>
        <p:spPr>
          <a:xfrm>
            <a:off x="640080" y="3822192"/>
            <a:ext cx="603504" cy="603504"/>
          </a:xfrm>
          <a:prstGeom prst="ellipse">
            <a:avLst/>
          </a:prstGeom>
          <a:solidFill>
            <a:srgbClr val="FEAF0D"/>
          </a:solidFill>
          <a:ln w="3175">
            <a:solidFill>
              <a:srgbClr val="FEAF0D"/>
            </a:solidFill>
            <a:prstDash val="solid"/>
          </a:ln>
        </p:spPr>
      </p:sp>
      <p:pic>
        <p:nvPicPr>
          <p:cNvPr id="13" name="Image 2" descr="D:\Wargaja\output\source\icons\data-2A2622.png">    </p:cNvPr>
          <p:cNvPicPr>
            <a:picLocks noChangeAspect="1"/>
          </p:cNvPicPr>
          <p:nvPr/>
        </p:nvPicPr>
        <p:blipFill>
          <a:blip r:embed="rId3"/>
          <a:stretch>
            <a:fillRect/>
          </a:stretch>
        </p:blipFill>
        <p:spPr>
          <a:xfrm>
            <a:off x="777240" y="3959352"/>
            <a:ext cx="329184" cy="329184"/>
          </a:xfrm>
          <a:prstGeom prst="rect">
            <a:avLst/>
          </a:prstGeom>
        </p:spPr>
      </p:pic>
      <p:sp>
        <p:nvSpPr>
          <p:cNvPr id="14" name="Text 9"/>
          <p:cNvSpPr/>
          <p:nvPr/>
        </p:nvSpPr>
        <p:spPr>
          <a:xfrm>
            <a:off x="1508760" y="3767328"/>
            <a:ext cx="10042855"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Data warga belum rapi</a:t>
            </a:r>
            <a:endParaRPr lang="en-US" sz="2400" dirty="0"/>
          </a:p>
        </p:txBody>
      </p:sp>
      <p:sp>
        <p:nvSpPr>
          <p:cNvPr id="15" name="Text 10"/>
          <p:cNvSpPr/>
          <p:nvPr/>
        </p:nvSpPr>
        <p:spPr>
          <a:xfrm>
            <a:off x="1508760" y="4242816"/>
            <a:ext cx="1004285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Data tersebar dan sulit dicari saat dibutuhkan.</a:t>
            </a:r>
            <a:endParaRPr lang="en-US" sz="2200" dirty="0"/>
          </a:p>
        </p:txBody>
      </p:sp>
      <p:sp>
        <p:nvSpPr>
          <p:cNvPr id="16" name="Shape 11"/>
          <p:cNvSpPr/>
          <p:nvPr/>
        </p:nvSpPr>
        <p:spPr>
          <a:xfrm>
            <a:off x="640080" y="4919472"/>
            <a:ext cx="603504" cy="603504"/>
          </a:xfrm>
          <a:prstGeom prst="ellipse">
            <a:avLst/>
          </a:prstGeom>
          <a:solidFill>
            <a:srgbClr val="FEAF0D"/>
          </a:solidFill>
          <a:ln w="3175">
            <a:solidFill>
              <a:srgbClr val="FEAF0D"/>
            </a:solidFill>
            <a:prstDash val="solid"/>
          </a:ln>
        </p:spPr>
      </p:sp>
      <p:pic>
        <p:nvPicPr>
          <p:cNvPr id="17" name="Image 3" descr="D:\Wargaja\output\source\icons\folder-2A2622.png">    </p:cNvPr>
          <p:cNvPicPr>
            <a:picLocks noChangeAspect="1"/>
          </p:cNvPicPr>
          <p:nvPr/>
        </p:nvPicPr>
        <p:blipFill>
          <a:blip r:embed="rId4"/>
          <a:stretch>
            <a:fillRect/>
          </a:stretch>
        </p:blipFill>
        <p:spPr>
          <a:xfrm>
            <a:off x="777240" y="5056632"/>
            <a:ext cx="329184" cy="329184"/>
          </a:xfrm>
          <a:prstGeom prst="rect">
            <a:avLst/>
          </a:prstGeom>
        </p:spPr>
      </p:pic>
      <p:sp>
        <p:nvSpPr>
          <p:cNvPr id="18" name="Text 12"/>
          <p:cNvSpPr/>
          <p:nvPr/>
        </p:nvSpPr>
        <p:spPr>
          <a:xfrm>
            <a:off x="1508760" y="4864608"/>
            <a:ext cx="10042855"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Laporan sulit dibuat</a:t>
            </a:r>
            <a:endParaRPr lang="en-US" sz="2400" dirty="0"/>
          </a:p>
        </p:txBody>
      </p:sp>
      <p:sp>
        <p:nvSpPr>
          <p:cNvPr id="19" name="Text 13"/>
          <p:cNvSpPr/>
          <p:nvPr/>
        </p:nvSpPr>
        <p:spPr>
          <a:xfrm>
            <a:off x="1508760" y="5340096"/>
            <a:ext cx="1004285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Menyusun laporan bulanan memakan waktu.</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Perkenalan Wargaja</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3</a:t>
            </a:r>
            <a:endParaRPr lang="en-US" sz="1800" dirty="0"/>
          </a:p>
        </p:txBody>
      </p:sp>
      <p:sp>
        <p:nvSpPr>
          <p:cNvPr id="4" name="Shape 2"/>
          <p:cNvSpPr/>
          <p:nvPr/>
        </p:nvSpPr>
        <p:spPr>
          <a:xfrm>
            <a:off x="640080" y="1828800"/>
            <a:ext cx="10911535" cy="3200400"/>
          </a:xfrm>
          <a:prstGeom prst="roundRect">
            <a:avLst>
              <a:gd name="adj" fmla="val 3429"/>
            </a:avLst>
          </a:prstGeom>
          <a:solidFill>
            <a:srgbClr val="FEAF0D">
              <a:alpha val="14000"/>
            </a:srgbClr>
          </a:solidFill>
          <a:ln w="6350">
            <a:solidFill>
              <a:srgbClr val="FFFFFF"/>
            </a:solidFill>
            <a:prstDash val="solid"/>
          </a:ln>
        </p:spPr>
      </p:sp>
      <p:sp>
        <p:nvSpPr>
          <p:cNvPr id="5" name="Text 3"/>
          <p:cNvSpPr/>
          <p:nvPr/>
        </p:nvSpPr>
        <p:spPr>
          <a:xfrm>
            <a:off x="1280160" y="2286000"/>
            <a:ext cx="9631375" cy="1783080"/>
          </a:xfrm>
          <a:prstGeom prst="rect">
            <a:avLst/>
          </a:prstGeom>
          <a:noFill/>
          <a:ln/>
        </p:spPr>
        <p:txBody>
          <a:bodyPr wrap="square" lIns="0" tIns="0" rIns="0" bIns="0" rtlCol="0" anchor="t"/>
          <a:lstStyle/>
          <a:p>
            <a:pPr indent="0" marL="0">
              <a:buNone/>
            </a:pPr>
            <a:r>
              <a:rPr lang="en-US" sz="3400" dirty="0">
                <a:solidFill>
                  <a:srgbClr val="2A2622"/>
                </a:solidFill>
                <a:latin typeface="Poppins" pitchFamily="34" charset="0"/>
                <a:ea typeface="Poppins" pitchFamily="34" charset="-122"/>
                <a:cs typeface="Poppins" pitchFamily="34" charset="-120"/>
              </a:rPr>
              <a:t>Wargaja menyatukan iuran, pengumuman, kegiatan, dan data warga dalam satu aplikasi yang mudah dipakai.</a:t>
            </a:r>
            <a:endParaRPr lang="en-US" sz="3400" dirty="0"/>
          </a:p>
        </p:txBody>
      </p:sp>
      <p:sp>
        <p:nvSpPr>
          <p:cNvPr id="6" name="Text 4"/>
          <p:cNvSpPr/>
          <p:nvPr/>
        </p:nvSpPr>
        <p:spPr>
          <a:xfrm>
            <a:off x="1280160" y="4297680"/>
            <a:ext cx="963137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Satu aplikasi untuk pengurus dan seluruh warga.</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Iuran: catat dan pantau</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4</a:t>
            </a:r>
            <a:endParaRPr lang="en-US" sz="1800" dirty="0"/>
          </a:p>
        </p:txBody>
      </p:sp>
      <p:sp>
        <p:nvSpPr>
          <p:cNvPr id="4" name="Shape 2"/>
          <p:cNvSpPr/>
          <p:nvPr/>
        </p:nvSpPr>
        <p:spPr>
          <a:xfrm>
            <a:off x="640080" y="1947672"/>
            <a:ext cx="310896" cy="310896"/>
          </a:xfrm>
          <a:prstGeom prst="ellipse">
            <a:avLst/>
          </a:prstGeom>
          <a:solidFill>
            <a:srgbClr val="FEAF0D"/>
          </a:solidFill>
          <a:ln w="3175">
            <a:solidFill>
              <a:srgbClr val="FEAF0D"/>
            </a:solidFill>
            <a:prstDash val="solid"/>
          </a:ln>
        </p:spPr>
      </p:sp>
      <p:sp>
        <p:nvSpPr>
          <p:cNvPr id="5" name="Text 3"/>
          <p:cNvSpPr/>
          <p:nvPr/>
        </p:nvSpPr>
        <p:spPr>
          <a:xfrm>
            <a:off x="1207008" y="1874520"/>
            <a:ext cx="5760720" cy="804672"/>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Catat iuran bulanan warga</a:t>
            </a:r>
            <a:endParaRPr lang="en-US" sz="2400" dirty="0"/>
          </a:p>
        </p:txBody>
      </p:sp>
      <p:sp>
        <p:nvSpPr>
          <p:cNvPr id="6" name="Shape 4"/>
          <p:cNvSpPr/>
          <p:nvPr/>
        </p:nvSpPr>
        <p:spPr>
          <a:xfrm>
            <a:off x="640080" y="2862072"/>
            <a:ext cx="310896" cy="310896"/>
          </a:xfrm>
          <a:prstGeom prst="ellipse">
            <a:avLst/>
          </a:prstGeom>
          <a:solidFill>
            <a:srgbClr val="FEAF0D"/>
          </a:solidFill>
          <a:ln w="3175">
            <a:solidFill>
              <a:srgbClr val="FEAF0D"/>
            </a:solidFill>
            <a:prstDash val="solid"/>
          </a:ln>
        </p:spPr>
      </p:sp>
      <p:sp>
        <p:nvSpPr>
          <p:cNvPr id="7" name="Text 5"/>
          <p:cNvSpPr/>
          <p:nvPr/>
        </p:nvSpPr>
        <p:spPr>
          <a:xfrm>
            <a:off x="1207008" y="2788920"/>
            <a:ext cx="5760720" cy="804672"/>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Tandai siapa yang sudah dan belum bayar</a:t>
            </a:r>
            <a:endParaRPr lang="en-US" sz="2400" dirty="0"/>
          </a:p>
        </p:txBody>
      </p:sp>
      <p:sp>
        <p:nvSpPr>
          <p:cNvPr id="8" name="Shape 6"/>
          <p:cNvSpPr/>
          <p:nvPr/>
        </p:nvSpPr>
        <p:spPr>
          <a:xfrm>
            <a:off x="640080" y="3776472"/>
            <a:ext cx="310896" cy="310896"/>
          </a:xfrm>
          <a:prstGeom prst="ellipse">
            <a:avLst/>
          </a:prstGeom>
          <a:solidFill>
            <a:srgbClr val="FEAF0D"/>
          </a:solidFill>
          <a:ln w="3175">
            <a:solidFill>
              <a:srgbClr val="FEAF0D"/>
            </a:solidFill>
            <a:prstDash val="solid"/>
          </a:ln>
        </p:spPr>
      </p:sp>
      <p:sp>
        <p:nvSpPr>
          <p:cNvPr id="9" name="Text 7"/>
          <p:cNvSpPr/>
          <p:nvPr/>
        </p:nvSpPr>
        <p:spPr>
          <a:xfrm>
            <a:off x="1207008" y="3703320"/>
            <a:ext cx="5760720" cy="804672"/>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Riwayat pembayaran tersimpan</a:t>
            </a:r>
            <a:endParaRPr lang="en-US" sz="2400" dirty="0"/>
          </a:p>
        </p:txBody>
      </p:sp>
      <p:sp>
        <p:nvSpPr>
          <p:cNvPr id="10" name="Shape 8"/>
          <p:cNvSpPr/>
          <p:nvPr/>
        </p:nvSpPr>
        <p:spPr>
          <a:xfrm>
            <a:off x="7223760" y="1828800"/>
            <a:ext cx="4325112" cy="3566160"/>
          </a:xfrm>
          <a:prstGeom prst="roundRect">
            <a:avLst>
              <a:gd name="adj" fmla="val 3077"/>
            </a:avLst>
          </a:prstGeom>
          <a:solidFill>
            <a:srgbClr val="FFFFFF"/>
          </a:solidFill>
          <a:ln w="12700">
            <a:solidFill>
              <a:srgbClr val="6E6660"/>
            </a:solidFill>
            <a:prstDash val="dash"/>
          </a:ln>
        </p:spPr>
      </p:sp>
      <p:sp>
        <p:nvSpPr>
          <p:cNvPr id="11" name="Text 9"/>
          <p:cNvSpPr/>
          <p:nvPr/>
        </p:nvSpPr>
        <p:spPr>
          <a:xfrm>
            <a:off x="7406640" y="2971800"/>
            <a:ext cx="3959352" cy="1280160"/>
          </a:xfrm>
          <a:prstGeom prst="rect">
            <a:avLst/>
          </a:prstGeom>
          <a:noFill/>
          <a:ln/>
        </p:spPr>
        <p:txBody>
          <a:bodyPr wrap="square" lIns="0" tIns="0" rIns="0" bIns="0" rtlCol="0" anchor="ctr"/>
          <a:lstStyle/>
          <a:p>
            <a:pPr algn="ctr" indent="0" marL="0">
              <a:buNone/>
            </a:pPr>
            <a:r>
              <a:rPr lang="en-US" sz="2200" dirty="0">
                <a:solidFill>
                  <a:srgbClr val="6E6660"/>
                </a:solidFill>
                <a:latin typeface="Poppins" pitchFamily="34" charset="0"/>
                <a:ea typeface="Poppins" pitchFamily="34" charset="-122"/>
                <a:cs typeface="Poppins" pitchFamily="34" charset="-120"/>
              </a:rPr>
              <a:t>Tempat tangkapan layar:</a:t>
            </a:r>
            <a:endParaRPr lang="en-US" sz="2200" dirty="0"/>
          </a:p>
          <a:p>
            <a:pPr algn="ctr" indent="0" marL="0">
              <a:buNone/>
            </a:pPr>
            <a:r>
              <a:rPr lang="en-US" sz="2200" dirty="0">
                <a:solidFill>
                  <a:srgbClr val="6E6660"/>
                </a:solidFill>
                <a:latin typeface="Poppins" pitchFamily="34" charset="0"/>
                <a:ea typeface="Poppins" pitchFamily="34" charset="-122"/>
                <a:cs typeface="Poppins" pitchFamily="34" charset="-120"/>
              </a:rPr>
              <a:t>menu Iuran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Pengumuman dan kegiatan warga</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5</a:t>
            </a:r>
            <a:endParaRPr lang="en-US" sz="1800" dirty="0"/>
          </a:p>
        </p:txBody>
      </p:sp>
      <p:sp>
        <p:nvSpPr>
          <p:cNvPr id="4" name="Shape 2"/>
          <p:cNvSpPr/>
          <p:nvPr/>
        </p:nvSpPr>
        <p:spPr>
          <a:xfrm>
            <a:off x="640080" y="1828800"/>
            <a:ext cx="4325112" cy="3566160"/>
          </a:xfrm>
          <a:prstGeom prst="roundRect">
            <a:avLst>
              <a:gd name="adj" fmla="val 3077"/>
            </a:avLst>
          </a:prstGeom>
          <a:solidFill>
            <a:srgbClr val="FFFFFF"/>
          </a:solidFill>
          <a:ln w="12700">
            <a:solidFill>
              <a:srgbClr val="6E6660"/>
            </a:solidFill>
            <a:prstDash val="dash"/>
          </a:ln>
        </p:spPr>
      </p:sp>
      <p:sp>
        <p:nvSpPr>
          <p:cNvPr id="5" name="Text 3"/>
          <p:cNvSpPr/>
          <p:nvPr/>
        </p:nvSpPr>
        <p:spPr>
          <a:xfrm>
            <a:off x="822960" y="2971800"/>
            <a:ext cx="3959352" cy="1280160"/>
          </a:xfrm>
          <a:prstGeom prst="rect">
            <a:avLst/>
          </a:prstGeom>
          <a:noFill/>
          <a:ln/>
        </p:spPr>
        <p:txBody>
          <a:bodyPr wrap="square" lIns="0" tIns="0" rIns="0" bIns="0" rtlCol="0" anchor="ctr"/>
          <a:lstStyle/>
          <a:p>
            <a:pPr algn="ctr" indent="0" marL="0">
              <a:buNone/>
            </a:pPr>
            <a:r>
              <a:rPr lang="en-US" sz="2200" dirty="0">
                <a:solidFill>
                  <a:srgbClr val="6E6660"/>
                </a:solidFill>
                <a:latin typeface="Poppins" pitchFamily="34" charset="0"/>
                <a:ea typeface="Poppins" pitchFamily="34" charset="-122"/>
                <a:cs typeface="Poppins" pitchFamily="34" charset="-120"/>
              </a:rPr>
              <a:t>Tempat tangkapan layar:</a:t>
            </a:r>
            <a:endParaRPr lang="en-US" sz="2200" dirty="0"/>
          </a:p>
          <a:p>
            <a:pPr algn="ctr" indent="0" marL="0">
              <a:buNone/>
            </a:pPr>
            <a:r>
              <a:rPr lang="en-US" sz="2200" dirty="0">
                <a:solidFill>
                  <a:srgbClr val="6E6660"/>
                </a:solidFill>
                <a:latin typeface="Poppins" pitchFamily="34" charset="0"/>
                <a:ea typeface="Poppins" pitchFamily="34" charset="-122"/>
                <a:cs typeface="Poppins" pitchFamily="34" charset="-120"/>
              </a:rPr>
              <a:t>pengumuman &amp; jadwal kegiatan</a:t>
            </a:r>
            <a:endParaRPr lang="en-US" sz="2200" dirty="0"/>
          </a:p>
        </p:txBody>
      </p:sp>
      <p:sp>
        <p:nvSpPr>
          <p:cNvPr id="6" name="Shape 4"/>
          <p:cNvSpPr/>
          <p:nvPr/>
        </p:nvSpPr>
        <p:spPr>
          <a:xfrm>
            <a:off x="5605272" y="1947672"/>
            <a:ext cx="310896" cy="310896"/>
          </a:xfrm>
          <a:prstGeom prst="ellipse">
            <a:avLst/>
          </a:prstGeom>
          <a:solidFill>
            <a:srgbClr val="FEAF0D"/>
          </a:solidFill>
          <a:ln w="3175">
            <a:solidFill>
              <a:srgbClr val="FEAF0D"/>
            </a:solidFill>
            <a:prstDash val="solid"/>
          </a:ln>
        </p:spPr>
      </p:sp>
      <p:sp>
        <p:nvSpPr>
          <p:cNvPr id="7" name="Text 5"/>
          <p:cNvSpPr/>
          <p:nvPr/>
        </p:nvSpPr>
        <p:spPr>
          <a:xfrm>
            <a:off x="6172200" y="1874520"/>
            <a:ext cx="5376672" cy="804672"/>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Pengumuman resmi tersimpan di satu tempat</a:t>
            </a:r>
            <a:endParaRPr lang="en-US" sz="2400" dirty="0"/>
          </a:p>
        </p:txBody>
      </p:sp>
      <p:sp>
        <p:nvSpPr>
          <p:cNvPr id="8" name="Shape 6"/>
          <p:cNvSpPr/>
          <p:nvPr/>
        </p:nvSpPr>
        <p:spPr>
          <a:xfrm>
            <a:off x="5605272" y="2862072"/>
            <a:ext cx="310896" cy="310896"/>
          </a:xfrm>
          <a:prstGeom prst="ellipse">
            <a:avLst/>
          </a:prstGeom>
          <a:solidFill>
            <a:srgbClr val="FEAF0D"/>
          </a:solidFill>
          <a:ln w="3175">
            <a:solidFill>
              <a:srgbClr val="FEAF0D"/>
            </a:solidFill>
            <a:prstDash val="solid"/>
          </a:ln>
        </p:spPr>
      </p:sp>
      <p:sp>
        <p:nvSpPr>
          <p:cNvPr id="9" name="Text 7"/>
          <p:cNvSpPr/>
          <p:nvPr/>
        </p:nvSpPr>
        <p:spPr>
          <a:xfrm>
            <a:off x="6172200" y="2788920"/>
            <a:ext cx="5376672" cy="804672"/>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Jadwal gotong royong dan acara warga</a:t>
            </a:r>
            <a:endParaRPr lang="en-US" sz="2400" dirty="0"/>
          </a:p>
        </p:txBody>
      </p:sp>
      <p:sp>
        <p:nvSpPr>
          <p:cNvPr id="10" name="Shape 8"/>
          <p:cNvSpPr/>
          <p:nvPr/>
        </p:nvSpPr>
        <p:spPr>
          <a:xfrm>
            <a:off x="5605272" y="3776472"/>
            <a:ext cx="310896" cy="310896"/>
          </a:xfrm>
          <a:prstGeom prst="ellipse">
            <a:avLst/>
          </a:prstGeom>
          <a:solidFill>
            <a:srgbClr val="FEAF0D"/>
          </a:solidFill>
          <a:ln w="3175">
            <a:solidFill>
              <a:srgbClr val="FEAF0D"/>
            </a:solidFill>
            <a:prstDash val="solid"/>
          </a:ln>
        </p:spPr>
      </p:sp>
      <p:sp>
        <p:nvSpPr>
          <p:cNvPr id="11" name="Text 9"/>
          <p:cNvSpPr/>
          <p:nvPr/>
        </p:nvSpPr>
        <p:spPr>
          <a:xfrm>
            <a:off x="6172200" y="3703320"/>
            <a:ext cx="5376672" cy="804672"/>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Tidak lagi tenggelam di grup chat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Data warga dan laporan</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6</a:t>
            </a:r>
            <a:endParaRPr lang="en-US" sz="1800" dirty="0"/>
          </a:p>
        </p:txBody>
      </p:sp>
      <p:sp>
        <p:nvSpPr>
          <p:cNvPr id="4" name="Shape 2"/>
          <p:cNvSpPr/>
          <p:nvPr/>
        </p:nvSpPr>
        <p:spPr>
          <a:xfrm>
            <a:off x="640080" y="1691640"/>
            <a:ext cx="5181448" cy="1783080"/>
          </a:xfrm>
          <a:prstGeom prst="roundRect">
            <a:avLst>
              <a:gd name="adj" fmla="val 6154"/>
            </a:avLst>
          </a:prstGeom>
          <a:solidFill>
            <a:srgbClr val="FEAF0D">
              <a:alpha val="14000"/>
            </a:srgbClr>
          </a:solidFill>
          <a:ln w="6350">
            <a:solidFill>
              <a:srgbClr val="FFFFFF"/>
            </a:solidFill>
            <a:prstDash val="solid"/>
          </a:ln>
        </p:spPr>
      </p:sp>
      <p:pic>
        <p:nvPicPr>
          <p:cNvPr id="5" name="Image 0" descr="D:\Wargaja\output\source\icons\data-2A2622.png">    </p:cNvPr>
          <p:cNvPicPr>
            <a:picLocks noChangeAspect="1"/>
          </p:cNvPicPr>
          <p:nvPr/>
        </p:nvPicPr>
        <p:blipFill>
          <a:blip r:embed="rId1"/>
          <a:stretch>
            <a:fillRect/>
          </a:stretch>
        </p:blipFill>
        <p:spPr>
          <a:xfrm>
            <a:off x="914400" y="1947672"/>
            <a:ext cx="365760" cy="365760"/>
          </a:xfrm>
          <a:prstGeom prst="rect">
            <a:avLst/>
          </a:prstGeom>
        </p:spPr>
      </p:pic>
      <p:sp>
        <p:nvSpPr>
          <p:cNvPr id="6" name="Text 3"/>
          <p:cNvSpPr/>
          <p:nvPr/>
        </p:nvSpPr>
        <p:spPr>
          <a:xfrm>
            <a:off x="1426464" y="1920240"/>
            <a:ext cx="4120744"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Data warga rapi</a:t>
            </a:r>
            <a:endParaRPr lang="en-US" sz="2400" dirty="0"/>
          </a:p>
        </p:txBody>
      </p:sp>
      <p:sp>
        <p:nvSpPr>
          <p:cNvPr id="7" name="Text 4"/>
          <p:cNvSpPr/>
          <p:nvPr/>
        </p:nvSpPr>
        <p:spPr>
          <a:xfrm>
            <a:off x="914400" y="2514600"/>
            <a:ext cx="4632808" cy="8229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Data diri, keluarga, dan rumah tersimpan di satu tempat.</a:t>
            </a:r>
            <a:endParaRPr lang="en-US" sz="2200" dirty="0"/>
          </a:p>
        </p:txBody>
      </p:sp>
      <p:sp>
        <p:nvSpPr>
          <p:cNvPr id="8" name="Shape 5"/>
          <p:cNvSpPr/>
          <p:nvPr/>
        </p:nvSpPr>
        <p:spPr>
          <a:xfrm>
            <a:off x="6370168" y="1691640"/>
            <a:ext cx="5181448" cy="1783080"/>
          </a:xfrm>
          <a:prstGeom prst="roundRect">
            <a:avLst>
              <a:gd name="adj" fmla="val 6154"/>
            </a:avLst>
          </a:prstGeom>
          <a:solidFill>
            <a:srgbClr val="FEAF0D">
              <a:alpha val="14000"/>
            </a:srgbClr>
          </a:solidFill>
          <a:ln w="6350">
            <a:solidFill>
              <a:srgbClr val="FFFFFF"/>
            </a:solidFill>
            <a:prstDash val="solid"/>
          </a:ln>
        </p:spPr>
      </p:sp>
      <p:pic>
        <p:nvPicPr>
          <p:cNvPr id="9" name="Image 1" descr="D:\Wargaja\output\source\icons\money-2A2622.png">    </p:cNvPr>
          <p:cNvPicPr>
            <a:picLocks noChangeAspect="1"/>
          </p:cNvPicPr>
          <p:nvPr/>
        </p:nvPicPr>
        <p:blipFill>
          <a:blip r:embed="rId2"/>
          <a:stretch>
            <a:fillRect/>
          </a:stretch>
        </p:blipFill>
        <p:spPr>
          <a:xfrm>
            <a:off x="6644488" y="1947672"/>
            <a:ext cx="365760" cy="365760"/>
          </a:xfrm>
          <a:prstGeom prst="rect">
            <a:avLst/>
          </a:prstGeom>
        </p:spPr>
      </p:pic>
      <p:sp>
        <p:nvSpPr>
          <p:cNvPr id="10" name="Text 6"/>
          <p:cNvSpPr/>
          <p:nvPr/>
        </p:nvSpPr>
        <p:spPr>
          <a:xfrm>
            <a:off x="7156552" y="1920240"/>
            <a:ext cx="4120744"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Laporan lebih cepat</a:t>
            </a:r>
            <a:endParaRPr lang="en-US" sz="2400" dirty="0"/>
          </a:p>
        </p:txBody>
      </p:sp>
      <p:sp>
        <p:nvSpPr>
          <p:cNvPr id="11" name="Text 7"/>
          <p:cNvSpPr/>
          <p:nvPr/>
        </p:nvSpPr>
        <p:spPr>
          <a:xfrm>
            <a:off x="6644488" y="2514600"/>
            <a:ext cx="4632808" cy="8229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Laporan iuran bisa diunduh untuk rapat bulanan.</a:t>
            </a:r>
            <a:endParaRPr lang="en-US" sz="2200" dirty="0"/>
          </a:p>
        </p:txBody>
      </p:sp>
      <p:sp>
        <p:nvSpPr>
          <p:cNvPr id="12" name="Shape 8"/>
          <p:cNvSpPr/>
          <p:nvPr/>
        </p:nvSpPr>
        <p:spPr>
          <a:xfrm>
            <a:off x="640080" y="3703320"/>
            <a:ext cx="5181448" cy="1783080"/>
          </a:xfrm>
          <a:prstGeom prst="roundRect">
            <a:avLst>
              <a:gd name="adj" fmla="val 6154"/>
            </a:avLst>
          </a:prstGeom>
          <a:solidFill>
            <a:srgbClr val="FEAF0D">
              <a:alpha val="14000"/>
            </a:srgbClr>
          </a:solidFill>
          <a:ln w="6350">
            <a:solidFill>
              <a:srgbClr val="FFFFFF"/>
            </a:solidFill>
            <a:prstDash val="solid"/>
          </a:ln>
        </p:spPr>
      </p:sp>
      <p:pic>
        <p:nvPicPr>
          <p:cNvPr id="13" name="Image 2" descr="D:\Wargaja\output\source\icons\guide-2A2622.png">    </p:cNvPr>
          <p:cNvPicPr>
            <a:picLocks noChangeAspect="1"/>
          </p:cNvPicPr>
          <p:nvPr/>
        </p:nvPicPr>
        <p:blipFill>
          <a:blip r:embed="rId3"/>
          <a:stretch>
            <a:fillRect/>
          </a:stretch>
        </p:blipFill>
        <p:spPr>
          <a:xfrm>
            <a:off x="914400" y="3959352"/>
            <a:ext cx="365760" cy="365760"/>
          </a:xfrm>
          <a:prstGeom prst="rect">
            <a:avLst/>
          </a:prstGeom>
        </p:spPr>
      </p:pic>
      <p:sp>
        <p:nvSpPr>
          <p:cNvPr id="14" name="Text 9"/>
          <p:cNvSpPr/>
          <p:nvPr/>
        </p:nvSpPr>
        <p:spPr>
          <a:xfrm>
            <a:off x="1426464" y="3931920"/>
            <a:ext cx="4120744"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Surat warga tercatat</a:t>
            </a:r>
            <a:endParaRPr lang="en-US" sz="2400" dirty="0"/>
          </a:p>
        </p:txBody>
      </p:sp>
      <p:sp>
        <p:nvSpPr>
          <p:cNvPr id="15" name="Text 10"/>
          <p:cNvSpPr/>
          <p:nvPr/>
        </p:nvSpPr>
        <p:spPr>
          <a:xfrm>
            <a:off x="914400" y="4526280"/>
            <a:ext cx="4632808" cy="8229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Permintaan surat warga tersimpan dan bisa ditelusuri.</a:t>
            </a:r>
            <a:endParaRPr lang="en-US" sz="2200" dirty="0"/>
          </a:p>
        </p:txBody>
      </p:sp>
      <p:sp>
        <p:nvSpPr>
          <p:cNvPr id="16" name="Shape 11"/>
          <p:cNvSpPr/>
          <p:nvPr/>
        </p:nvSpPr>
        <p:spPr>
          <a:xfrm>
            <a:off x="6370168" y="3703320"/>
            <a:ext cx="5181448" cy="1783080"/>
          </a:xfrm>
          <a:prstGeom prst="roundRect">
            <a:avLst>
              <a:gd name="adj" fmla="val 6154"/>
            </a:avLst>
          </a:prstGeom>
          <a:solidFill>
            <a:srgbClr val="FFFFFF"/>
          </a:solidFill>
          <a:ln w="12700">
            <a:solidFill>
              <a:srgbClr val="6E6660"/>
            </a:solidFill>
            <a:prstDash val="dash"/>
          </a:ln>
        </p:spPr>
      </p:sp>
      <p:sp>
        <p:nvSpPr>
          <p:cNvPr id="17" name="Text 12"/>
          <p:cNvSpPr/>
          <p:nvPr/>
        </p:nvSpPr>
        <p:spPr>
          <a:xfrm>
            <a:off x="6553048" y="3954780"/>
            <a:ext cx="4815688" cy="1280160"/>
          </a:xfrm>
          <a:prstGeom prst="rect">
            <a:avLst/>
          </a:prstGeom>
          <a:noFill/>
          <a:ln/>
        </p:spPr>
        <p:txBody>
          <a:bodyPr wrap="square" lIns="0" tIns="0" rIns="0" bIns="0" rtlCol="0" anchor="ctr"/>
          <a:lstStyle/>
          <a:p>
            <a:pPr algn="ctr" indent="0" marL="0">
              <a:buNone/>
            </a:pPr>
            <a:r>
              <a:rPr lang="en-US" sz="2200" dirty="0">
                <a:solidFill>
                  <a:srgbClr val="6E6660"/>
                </a:solidFill>
                <a:latin typeface="Poppins" pitchFamily="34" charset="0"/>
                <a:ea typeface="Poppins" pitchFamily="34" charset="-122"/>
                <a:cs typeface="Poppins" pitchFamily="34" charset="-120"/>
              </a:rPr>
              <a:t>Tempat tangkapan layar:</a:t>
            </a:r>
            <a:endParaRPr lang="en-US" sz="2200" dirty="0"/>
          </a:p>
          <a:p>
            <a:pPr algn="ctr" indent="0" marL="0">
              <a:buNone/>
            </a:pPr>
            <a:r>
              <a:rPr lang="en-US" sz="2200" dirty="0">
                <a:solidFill>
                  <a:srgbClr val="6E6660"/>
                </a:solidFill>
                <a:latin typeface="Poppins" pitchFamily="34" charset="0"/>
                <a:ea typeface="Poppins" pitchFamily="34" charset="-122"/>
                <a:cs typeface="Poppins" pitchFamily="34" charset="-120"/>
              </a:rPr>
              <a:t>laporan iuran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Cara mulai: tiga langkah mudah</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7</a:t>
            </a:r>
            <a:endParaRPr lang="en-US" sz="1800" dirty="0"/>
          </a:p>
        </p:txBody>
      </p:sp>
      <p:sp>
        <p:nvSpPr>
          <p:cNvPr id="4" name="Shape 2"/>
          <p:cNvSpPr/>
          <p:nvPr/>
        </p:nvSpPr>
        <p:spPr>
          <a:xfrm>
            <a:off x="640080" y="1874520"/>
            <a:ext cx="914400" cy="914400"/>
          </a:xfrm>
          <a:prstGeom prst="ellipse">
            <a:avLst/>
          </a:prstGeom>
          <a:solidFill>
            <a:srgbClr val="FEAF0D"/>
          </a:solidFill>
          <a:ln w="3175">
            <a:solidFill>
              <a:srgbClr val="FEAF0D"/>
            </a:solidFill>
            <a:prstDash val="solid"/>
          </a:ln>
        </p:spPr>
      </p:sp>
      <p:sp>
        <p:nvSpPr>
          <p:cNvPr id="5" name="Text 3"/>
          <p:cNvSpPr/>
          <p:nvPr/>
        </p:nvSpPr>
        <p:spPr>
          <a:xfrm>
            <a:off x="640080" y="1874520"/>
            <a:ext cx="914400" cy="914400"/>
          </a:xfrm>
          <a:prstGeom prst="rect">
            <a:avLst/>
          </a:prstGeom>
          <a:noFill/>
          <a:ln/>
        </p:spPr>
        <p:txBody>
          <a:bodyPr wrap="square" lIns="0" tIns="0" rIns="0" bIns="0" rtlCol="0" anchor="ctr"/>
          <a:lstStyle/>
          <a:p>
            <a:pPr algn="ctr" indent="0" marL="0">
              <a:buNone/>
            </a:pPr>
            <a:r>
              <a:rPr lang="en-US" sz="4000" b="1" dirty="0">
                <a:solidFill>
                  <a:srgbClr val="2A2622"/>
                </a:solidFill>
                <a:latin typeface="Poppins" pitchFamily="34" charset="0"/>
                <a:ea typeface="Poppins" pitchFamily="34" charset="-122"/>
                <a:cs typeface="Poppins" pitchFamily="34" charset="-120"/>
              </a:rPr>
              <a:t>1</a:t>
            </a:r>
            <a:endParaRPr lang="en-US" sz="4000" dirty="0"/>
          </a:p>
        </p:txBody>
      </p:sp>
      <p:sp>
        <p:nvSpPr>
          <p:cNvPr id="6" name="Text 4"/>
          <p:cNvSpPr/>
          <p:nvPr/>
        </p:nvSpPr>
        <p:spPr>
          <a:xfrm>
            <a:off x="640080" y="3063240"/>
            <a:ext cx="3271418"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Daftar</a:t>
            </a:r>
            <a:endParaRPr lang="en-US" sz="2400" dirty="0"/>
          </a:p>
        </p:txBody>
      </p:sp>
      <p:sp>
        <p:nvSpPr>
          <p:cNvPr id="7" name="Text 5"/>
          <p:cNvSpPr/>
          <p:nvPr/>
        </p:nvSpPr>
        <p:spPr>
          <a:xfrm>
            <a:off x="640080" y="3566160"/>
            <a:ext cx="3271418" cy="8229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Isi nama, email, dan kata sandi.</a:t>
            </a:r>
            <a:endParaRPr lang="en-US" sz="2200" dirty="0"/>
          </a:p>
        </p:txBody>
      </p:sp>
      <p:sp>
        <p:nvSpPr>
          <p:cNvPr id="8" name="Shape 6"/>
          <p:cNvSpPr/>
          <p:nvPr/>
        </p:nvSpPr>
        <p:spPr>
          <a:xfrm>
            <a:off x="4460138" y="1874520"/>
            <a:ext cx="914400" cy="914400"/>
          </a:xfrm>
          <a:prstGeom prst="ellipse">
            <a:avLst/>
          </a:prstGeom>
          <a:solidFill>
            <a:srgbClr val="FEAF0D"/>
          </a:solidFill>
          <a:ln w="3175">
            <a:solidFill>
              <a:srgbClr val="FEAF0D"/>
            </a:solidFill>
            <a:prstDash val="solid"/>
          </a:ln>
        </p:spPr>
      </p:sp>
      <p:sp>
        <p:nvSpPr>
          <p:cNvPr id="9" name="Text 7"/>
          <p:cNvSpPr/>
          <p:nvPr/>
        </p:nvSpPr>
        <p:spPr>
          <a:xfrm>
            <a:off x="4460138" y="1874520"/>
            <a:ext cx="914400" cy="914400"/>
          </a:xfrm>
          <a:prstGeom prst="rect">
            <a:avLst/>
          </a:prstGeom>
          <a:noFill/>
          <a:ln/>
        </p:spPr>
        <p:txBody>
          <a:bodyPr wrap="square" lIns="0" tIns="0" rIns="0" bIns="0" rtlCol="0" anchor="ctr"/>
          <a:lstStyle/>
          <a:p>
            <a:pPr algn="ctr" indent="0" marL="0">
              <a:buNone/>
            </a:pPr>
            <a:r>
              <a:rPr lang="en-US" sz="4000" b="1" dirty="0">
                <a:solidFill>
                  <a:srgbClr val="2A2622"/>
                </a:solidFill>
                <a:latin typeface="Poppins" pitchFamily="34" charset="0"/>
                <a:ea typeface="Poppins" pitchFamily="34" charset="-122"/>
                <a:cs typeface="Poppins" pitchFamily="34" charset="-120"/>
              </a:rPr>
              <a:t>2</a:t>
            </a:r>
            <a:endParaRPr lang="en-US" sz="4000" dirty="0"/>
          </a:p>
        </p:txBody>
      </p:sp>
      <p:sp>
        <p:nvSpPr>
          <p:cNvPr id="10" name="Text 8"/>
          <p:cNvSpPr/>
          <p:nvPr/>
        </p:nvSpPr>
        <p:spPr>
          <a:xfrm>
            <a:off x="4460138" y="3063240"/>
            <a:ext cx="3271418"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Masuk</a:t>
            </a:r>
            <a:endParaRPr lang="en-US" sz="2400" dirty="0"/>
          </a:p>
        </p:txBody>
      </p:sp>
      <p:sp>
        <p:nvSpPr>
          <p:cNvPr id="11" name="Text 9"/>
          <p:cNvSpPr/>
          <p:nvPr/>
        </p:nvSpPr>
        <p:spPr>
          <a:xfrm>
            <a:off x="4460138" y="3566160"/>
            <a:ext cx="3271418" cy="8229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Buka aplikasi dan masuk ke akun Anda.</a:t>
            </a:r>
            <a:endParaRPr lang="en-US" sz="2200" dirty="0"/>
          </a:p>
        </p:txBody>
      </p:sp>
      <p:sp>
        <p:nvSpPr>
          <p:cNvPr id="12" name="Shape 10"/>
          <p:cNvSpPr/>
          <p:nvPr/>
        </p:nvSpPr>
        <p:spPr>
          <a:xfrm>
            <a:off x="8280197" y="1874520"/>
            <a:ext cx="914400" cy="914400"/>
          </a:xfrm>
          <a:prstGeom prst="ellipse">
            <a:avLst/>
          </a:prstGeom>
          <a:solidFill>
            <a:srgbClr val="FEAF0D"/>
          </a:solidFill>
          <a:ln w="3175">
            <a:solidFill>
              <a:srgbClr val="FEAF0D"/>
            </a:solidFill>
            <a:prstDash val="solid"/>
          </a:ln>
        </p:spPr>
      </p:sp>
      <p:sp>
        <p:nvSpPr>
          <p:cNvPr id="13" name="Text 11"/>
          <p:cNvSpPr/>
          <p:nvPr/>
        </p:nvSpPr>
        <p:spPr>
          <a:xfrm>
            <a:off x="8280197" y="1874520"/>
            <a:ext cx="914400" cy="914400"/>
          </a:xfrm>
          <a:prstGeom prst="rect">
            <a:avLst/>
          </a:prstGeom>
          <a:noFill/>
          <a:ln/>
        </p:spPr>
        <p:txBody>
          <a:bodyPr wrap="square" lIns="0" tIns="0" rIns="0" bIns="0" rtlCol="0" anchor="ctr"/>
          <a:lstStyle/>
          <a:p>
            <a:pPr algn="ctr" indent="0" marL="0">
              <a:buNone/>
            </a:pPr>
            <a:r>
              <a:rPr lang="en-US" sz="4000" b="1" dirty="0">
                <a:solidFill>
                  <a:srgbClr val="2A2622"/>
                </a:solidFill>
                <a:latin typeface="Poppins" pitchFamily="34" charset="0"/>
                <a:ea typeface="Poppins" pitchFamily="34" charset="-122"/>
                <a:cs typeface="Poppins" pitchFamily="34" charset="-120"/>
              </a:rPr>
              <a:t>3</a:t>
            </a:r>
            <a:endParaRPr lang="en-US" sz="4000" dirty="0"/>
          </a:p>
        </p:txBody>
      </p:sp>
      <p:sp>
        <p:nvSpPr>
          <p:cNvPr id="14" name="Text 12"/>
          <p:cNvSpPr/>
          <p:nvPr/>
        </p:nvSpPr>
        <p:spPr>
          <a:xfrm>
            <a:off x="8280197" y="3063240"/>
            <a:ext cx="3271418"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Mulai pakai</a:t>
            </a:r>
            <a:endParaRPr lang="en-US" sz="2400" dirty="0"/>
          </a:p>
        </p:txBody>
      </p:sp>
      <p:sp>
        <p:nvSpPr>
          <p:cNvPr id="15" name="Text 13"/>
          <p:cNvSpPr/>
          <p:nvPr/>
        </p:nvSpPr>
        <p:spPr>
          <a:xfrm>
            <a:off x="8280197" y="3566160"/>
            <a:ext cx="3271418" cy="82296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Lihat iuran, pengumuman, dan kegiatan.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Manfaat untuk pengurus dan warga</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8</a:t>
            </a:r>
            <a:endParaRPr lang="en-US" sz="1800" dirty="0"/>
          </a:p>
        </p:txBody>
      </p:sp>
      <p:sp>
        <p:nvSpPr>
          <p:cNvPr id="4" name="Shape 2"/>
          <p:cNvSpPr/>
          <p:nvPr/>
        </p:nvSpPr>
        <p:spPr>
          <a:xfrm>
            <a:off x="640080" y="1691640"/>
            <a:ext cx="5181448" cy="3931920"/>
          </a:xfrm>
          <a:prstGeom prst="roundRect">
            <a:avLst>
              <a:gd name="adj" fmla="val 2791"/>
            </a:avLst>
          </a:prstGeom>
          <a:solidFill>
            <a:srgbClr val="FEAF0D">
              <a:alpha val="14000"/>
            </a:srgbClr>
          </a:solidFill>
          <a:ln w="6350">
            <a:solidFill>
              <a:srgbClr val="FFFFFF"/>
            </a:solidFill>
            <a:prstDash val="solid"/>
          </a:ln>
        </p:spPr>
      </p:sp>
      <p:sp>
        <p:nvSpPr>
          <p:cNvPr id="5" name="Text 3"/>
          <p:cNvSpPr/>
          <p:nvPr/>
        </p:nvSpPr>
        <p:spPr>
          <a:xfrm>
            <a:off x="1051560" y="2011680"/>
            <a:ext cx="4358488"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Untuk pengurus</a:t>
            </a:r>
            <a:endParaRPr lang="en-US" sz="2400" dirty="0"/>
          </a:p>
        </p:txBody>
      </p:sp>
      <p:sp>
        <p:nvSpPr>
          <p:cNvPr id="6" name="Text 4"/>
          <p:cNvSpPr/>
          <p:nvPr/>
        </p:nvSpPr>
        <p:spPr>
          <a:xfrm>
            <a:off x="1051560" y="2743200"/>
            <a:ext cx="4358488" cy="2560320"/>
          </a:xfrm>
          <a:prstGeom prst="rect">
            <a:avLst/>
          </a:prstGeom>
          <a:noFill/>
          <a:ln/>
        </p:spPr>
        <p:txBody>
          <a:bodyPr wrap="square" lIns="0" tIns="0" rIns="0" bIns="0" rtlCol="0" anchor="t"/>
          <a:lstStyle/>
          <a:p>
            <a:pPr indent="0" marL="0">
              <a:spcAft>
                <a:spcPts val="1400"/>
              </a:spcAft>
              <a:buNone/>
            </a:pPr>
            <a:r>
              <a:rPr lang="en-US" sz="2200" dirty="0">
                <a:solidFill>
                  <a:srgbClr val="2A2622"/>
                </a:solidFill>
                <a:latin typeface="Poppins" pitchFamily="34" charset="0"/>
                <a:ea typeface="Poppins" pitchFamily="34" charset="-122"/>
                <a:cs typeface="Poppins" pitchFamily="34" charset="-120"/>
              </a:rPr>
              <a:t>Catatan iuran lebih rapi</a:t>
            </a:r>
            <a:endParaRPr lang="en-US" sz="2200" dirty="0"/>
          </a:p>
          <a:p>
            <a:pPr indent="0" marL="0">
              <a:spcAft>
                <a:spcPts val="1400"/>
              </a:spcAft>
              <a:buNone/>
            </a:pPr>
            <a:r>
              <a:rPr lang="en-US" sz="2200" dirty="0">
                <a:solidFill>
                  <a:srgbClr val="2A2622"/>
                </a:solidFill>
                <a:latin typeface="Poppins" pitchFamily="34" charset="0"/>
                <a:ea typeface="Poppins" pitchFamily="34" charset="-122"/>
                <a:cs typeface="Poppins" pitchFamily="34" charset="-120"/>
              </a:rPr>
              <a:t>Laporan lebih cepat dibuat</a:t>
            </a:r>
            <a:endParaRPr lang="en-US" sz="2200" dirty="0"/>
          </a:p>
          <a:p>
            <a:pPr indent="0" marL="0">
              <a:spcAft>
                <a:spcPts val="1400"/>
              </a:spcAft>
              <a:buNone/>
            </a:pPr>
            <a:r>
              <a:rPr lang="en-US" sz="2200" dirty="0">
                <a:solidFill>
                  <a:srgbClr val="2A2622"/>
                </a:solidFill>
                <a:latin typeface="Poppins" pitchFamily="34" charset="0"/>
                <a:ea typeface="Poppins" pitchFamily="34" charset="-122"/>
                <a:cs typeface="Poppins" pitchFamily="34" charset="-120"/>
              </a:rPr>
              <a:t>Data warga mudah dicari</a:t>
            </a:r>
            <a:endParaRPr lang="en-US" sz="2200" dirty="0"/>
          </a:p>
        </p:txBody>
      </p:sp>
      <p:sp>
        <p:nvSpPr>
          <p:cNvPr id="7" name="Shape 5"/>
          <p:cNvSpPr/>
          <p:nvPr/>
        </p:nvSpPr>
        <p:spPr>
          <a:xfrm>
            <a:off x="6370168" y="1691640"/>
            <a:ext cx="5181448" cy="3931920"/>
          </a:xfrm>
          <a:prstGeom prst="roundRect">
            <a:avLst>
              <a:gd name="adj" fmla="val 2791"/>
            </a:avLst>
          </a:prstGeom>
          <a:solidFill>
            <a:srgbClr val="FFFFFF"/>
          </a:solidFill>
          <a:ln w="12700">
            <a:solidFill>
              <a:srgbClr val="6E6660"/>
            </a:solidFill>
            <a:prstDash val="solid"/>
          </a:ln>
        </p:spPr>
      </p:sp>
      <p:sp>
        <p:nvSpPr>
          <p:cNvPr id="8" name="Text 6"/>
          <p:cNvSpPr/>
          <p:nvPr/>
        </p:nvSpPr>
        <p:spPr>
          <a:xfrm>
            <a:off x="6781648" y="2011680"/>
            <a:ext cx="4358488"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Untuk warga</a:t>
            </a:r>
            <a:endParaRPr lang="en-US" sz="2400" dirty="0"/>
          </a:p>
        </p:txBody>
      </p:sp>
      <p:sp>
        <p:nvSpPr>
          <p:cNvPr id="9" name="Text 7"/>
          <p:cNvSpPr/>
          <p:nvPr/>
        </p:nvSpPr>
        <p:spPr>
          <a:xfrm>
            <a:off x="6781648" y="2743200"/>
            <a:ext cx="4358488" cy="2560320"/>
          </a:xfrm>
          <a:prstGeom prst="rect">
            <a:avLst/>
          </a:prstGeom>
          <a:noFill/>
          <a:ln/>
        </p:spPr>
        <p:txBody>
          <a:bodyPr wrap="square" lIns="0" tIns="0" rIns="0" bIns="0" rtlCol="0" anchor="t"/>
          <a:lstStyle/>
          <a:p>
            <a:pPr indent="0" marL="0">
              <a:spcAft>
                <a:spcPts val="1400"/>
              </a:spcAft>
              <a:buNone/>
            </a:pPr>
            <a:r>
              <a:rPr lang="en-US" sz="2200" dirty="0">
                <a:solidFill>
                  <a:srgbClr val="2A2622"/>
                </a:solidFill>
                <a:latin typeface="Poppins" pitchFamily="34" charset="0"/>
                <a:ea typeface="Poppins" pitchFamily="34" charset="-122"/>
                <a:cs typeface="Poppins" pitchFamily="34" charset="-120"/>
              </a:rPr>
              <a:t>Iuran tidak perlu antre</a:t>
            </a:r>
            <a:endParaRPr lang="en-US" sz="2200" dirty="0"/>
          </a:p>
          <a:p>
            <a:pPr indent="0" marL="0">
              <a:spcAft>
                <a:spcPts val="1400"/>
              </a:spcAft>
              <a:buNone/>
            </a:pPr>
            <a:r>
              <a:rPr lang="en-US" sz="2200" dirty="0">
                <a:solidFill>
                  <a:srgbClr val="2A2622"/>
                </a:solidFill>
                <a:latin typeface="Poppins" pitchFamily="34" charset="0"/>
                <a:ea typeface="Poppins" pitchFamily="34" charset="-122"/>
                <a:cs typeface="Poppins" pitchFamily="34" charset="-120"/>
              </a:rPr>
              <a:t>Pengumuman mudah dicari</a:t>
            </a:r>
            <a:endParaRPr lang="en-US" sz="2200" dirty="0"/>
          </a:p>
          <a:p>
            <a:pPr indent="0" marL="0">
              <a:spcAft>
                <a:spcPts val="1400"/>
              </a:spcAft>
              <a:buNone/>
            </a:pPr>
            <a:r>
              <a:rPr lang="en-US" sz="2200" dirty="0">
                <a:solidFill>
                  <a:srgbClr val="2A2622"/>
                </a:solidFill>
                <a:latin typeface="Poppins" pitchFamily="34" charset="0"/>
                <a:ea typeface="Poppins" pitchFamily="34" charset="-122"/>
                <a:cs typeface="Poppins" pitchFamily="34" charset="-120"/>
              </a:rPr>
              <a:t>Tahu jadwal kegiatan</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Keamanan dan privasi data warga</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9</a:t>
            </a:r>
            <a:endParaRPr lang="en-US" sz="1800" dirty="0"/>
          </a:p>
        </p:txBody>
      </p:sp>
      <p:pic>
        <p:nvPicPr>
          <p:cNvPr id="4" name="Image 0" descr="D:\Wargaja\output\source\icons\check-2A2622.png">    </p:cNvPr>
          <p:cNvPicPr>
            <a:picLocks noChangeAspect="1"/>
          </p:cNvPicPr>
          <p:nvPr/>
        </p:nvPicPr>
        <p:blipFill>
          <a:blip r:embed="rId1"/>
          <a:stretch>
            <a:fillRect/>
          </a:stretch>
        </p:blipFill>
        <p:spPr>
          <a:xfrm>
            <a:off x="640080" y="1865376"/>
            <a:ext cx="347472" cy="347472"/>
          </a:xfrm>
          <a:prstGeom prst="rect">
            <a:avLst/>
          </a:prstGeom>
        </p:spPr>
      </p:pic>
      <p:sp>
        <p:nvSpPr>
          <p:cNvPr id="5" name="Text 2"/>
          <p:cNvSpPr/>
          <p:nvPr/>
        </p:nvSpPr>
        <p:spPr>
          <a:xfrm>
            <a:off x="1261872" y="1828800"/>
            <a:ext cx="10289743" cy="457200"/>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Data diisi sendiri oleh warga</a:t>
            </a:r>
            <a:endParaRPr lang="en-US" sz="2400" dirty="0"/>
          </a:p>
        </p:txBody>
      </p:sp>
      <p:pic>
        <p:nvPicPr>
          <p:cNvPr id="6" name="Image 1" descr="D:\Wargaja\output\source\icons\key-8A5A00.png">    </p:cNvPr>
          <p:cNvPicPr>
            <a:picLocks noChangeAspect="1"/>
          </p:cNvPicPr>
          <p:nvPr/>
        </p:nvPicPr>
        <p:blipFill>
          <a:blip r:embed="rId2"/>
          <a:stretch>
            <a:fillRect/>
          </a:stretch>
        </p:blipFill>
        <p:spPr>
          <a:xfrm>
            <a:off x="640080" y="2706624"/>
            <a:ext cx="347472" cy="347472"/>
          </a:xfrm>
          <a:prstGeom prst="rect">
            <a:avLst/>
          </a:prstGeom>
        </p:spPr>
      </p:pic>
      <p:sp>
        <p:nvSpPr>
          <p:cNvPr id="7" name="Text 3"/>
          <p:cNvSpPr/>
          <p:nvPr/>
        </p:nvSpPr>
        <p:spPr>
          <a:xfrm>
            <a:off x="1261872" y="2670048"/>
            <a:ext cx="10289743" cy="457200"/>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Tampilan dan menu dipisah menurut peran</a:t>
            </a:r>
            <a:endParaRPr lang="en-US" sz="2400" dirty="0"/>
          </a:p>
        </p:txBody>
      </p:sp>
      <p:pic>
        <p:nvPicPr>
          <p:cNvPr id="8" name="Image 2" descr="D:\Wargaja\output\source\icons\secure-8A5A00.png">    </p:cNvPr>
          <p:cNvPicPr>
            <a:picLocks noChangeAspect="1"/>
          </p:cNvPicPr>
          <p:nvPr/>
        </p:nvPicPr>
        <p:blipFill>
          <a:blip r:embed="rId3"/>
          <a:stretch>
            <a:fillRect/>
          </a:stretch>
        </p:blipFill>
        <p:spPr>
          <a:xfrm>
            <a:off x="640080" y="3547872"/>
            <a:ext cx="347472" cy="347472"/>
          </a:xfrm>
          <a:prstGeom prst="rect">
            <a:avLst/>
          </a:prstGeom>
        </p:spPr>
      </p:pic>
      <p:sp>
        <p:nvSpPr>
          <p:cNvPr id="9" name="Text 4"/>
          <p:cNvSpPr/>
          <p:nvPr/>
        </p:nvSpPr>
        <p:spPr>
          <a:xfrm>
            <a:off x="1261872" y="3511296"/>
            <a:ext cx="10289743" cy="457200"/>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Hanya pengurus terkait yang melihat data yang diperlukan</a:t>
            </a:r>
            <a:endParaRPr lang="en-US" sz="2400" dirty="0"/>
          </a:p>
        </p:txBody>
      </p:sp>
      <p:pic>
        <p:nvPicPr>
          <p:cNvPr id="10" name="Image 3" descr="D:\Wargaja\output\source\icons\check-2A2622.png">    </p:cNvPr>
          <p:cNvPicPr>
            <a:picLocks noChangeAspect="1"/>
          </p:cNvPicPr>
          <p:nvPr/>
        </p:nvPicPr>
        <p:blipFill>
          <a:blip r:embed="rId4"/>
          <a:stretch>
            <a:fillRect/>
          </a:stretch>
        </p:blipFill>
        <p:spPr>
          <a:xfrm>
            <a:off x="640080" y="4389120"/>
            <a:ext cx="347472" cy="347472"/>
          </a:xfrm>
          <a:prstGeom prst="rect">
            <a:avLst/>
          </a:prstGeom>
        </p:spPr>
      </p:pic>
      <p:sp>
        <p:nvSpPr>
          <p:cNvPr id="11" name="Text 5"/>
          <p:cNvSpPr/>
          <p:nvPr/>
        </p:nvSpPr>
        <p:spPr>
          <a:xfrm>
            <a:off x="1261872" y="4352544"/>
            <a:ext cx="10289743" cy="457200"/>
          </a:xfrm>
          <a:prstGeom prst="rect">
            <a:avLst/>
          </a:prstGeom>
          <a:noFill/>
          <a:ln/>
        </p:spPr>
        <p:txBody>
          <a:bodyPr wrap="square" lIns="0" tIns="0" rIns="0" bIns="0" rtlCol="0" anchor="t"/>
          <a:lstStyle/>
          <a:p>
            <a:pPr indent="0" marL="0">
              <a:buNone/>
            </a:pPr>
            <a:r>
              <a:rPr lang="en-US" sz="2400" dirty="0">
                <a:solidFill>
                  <a:srgbClr val="2A2622"/>
                </a:solidFill>
                <a:latin typeface="Poppins" pitchFamily="34" charset="0"/>
                <a:ea typeface="Poppins" pitchFamily="34" charset="-122"/>
                <a:cs typeface="Poppins" pitchFamily="34" charset="-120"/>
              </a:rPr>
              <a:t>Data bisa diperbaiki bila ada yang keliru</a:t>
            </a:r>
            <a:endParaRPr lang="en-US" sz="2400" dirty="0"/>
          </a:p>
        </p:txBody>
      </p:sp>
      <p:sp>
        <p:nvSpPr>
          <p:cNvPr id="12" name="Text 6"/>
          <p:cNvSpPr/>
          <p:nvPr/>
        </p:nvSpPr>
        <p:spPr>
          <a:xfrm>
            <a:off x="640080" y="5440680"/>
            <a:ext cx="1091153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Aturan rinci soal penyimpanan data ditetapkan bersama pengurus.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Rencana penerapan</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10</a:t>
            </a:r>
            <a:endParaRPr lang="en-US" sz="1800" dirty="0"/>
          </a:p>
        </p:txBody>
      </p:sp>
      <p:sp>
        <p:nvSpPr>
          <p:cNvPr id="4" name="Text 2"/>
          <p:cNvSpPr/>
          <p:nvPr/>
        </p:nvSpPr>
        <p:spPr>
          <a:xfrm>
            <a:off x="640080" y="1389888"/>
            <a:ext cx="1091153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[nama lingkungan]</a:t>
            </a:r>
            <a:endParaRPr lang="en-US" sz="2200" dirty="0"/>
          </a:p>
        </p:txBody>
      </p:sp>
      <p:sp>
        <p:nvSpPr>
          <p:cNvPr id="5" name="Shape 3"/>
          <p:cNvSpPr/>
          <p:nvPr/>
        </p:nvSpPr>
        <p:spPr>
          <a:xfrm>
            <a:off x="1832572" y="3493008"/>
            <a:ext cx="8526551" cy="0"/>
          </a:xfrm>
          <a:prstGeom prst="line">
            <a:avLst/>
          </a:prstGeom>
          <a:noFill/>
          <a:ln w="15875">
            <a:solidFill>
              <a:srgbClr val="6E6660"/>
            </a:solidFill>
            <a:prstDash val="solid"/>
          </a:ln>
        </p:spPr>
      </p:sp>
      <p:sp>
        <p:nvSpPr>
          <p:cNvPr id="6" name="Shape 4"/>
          <p:cNvSpPr/>
          <p:nvPr/>
        </p:nvSpPr>
        <p:spPr>
          <a:xfrm>
            <a:off x="1658836" y="3319272"/>
            <a:ext cx="347472" cy="347472"/>
          </a:xfrm>
          <a:prstGeom prst="ellipse">
            <a:avLst/>
          </a:prstGeom>
          <a:solidFill>
            <a:srgbClr val="FEAF0D"/>
          </a:solidFill>
          <a:ln w="3175">
            <a:solidFill>
              <a:srgbClr val="FEAF0D"/>
            </a:solidFill>
            <a:prstDash val="solid"/>
          </a:ln>
        </p:spPr>
      </p:sp>
      <p:sp>
        <p:nvSpPr>
          <p:cNvPr id="7" name="Text 5"/>
          <p:cNvSpPr/>
          <p:nvPr/>
        </p:nvSpPr>
        <p:spPr>
          <a:xfrm>
            <a:off x="640080" y="2212848"/>
            <a:ext cx="2384984" cy="868680"/>
          </a:xfrm>
          <a:prstGeom prst="rect">
            <a:avLst/>
          </a:prstGeom>
          <a:noFill/>
          <a:ln/>
        </p:spPr>
        <p:txBody>
          <a:bodyPr wrap="square" lIns="0" tIns="0" rIns="0" bIns="0" rtlCol="0" anchor="t"/>
          <a:lstStyle/>
          <a:p>
            <a:pPr algn="ctr" indent="0" marL="0">
              <a:buNone/>
            </a:pPr>
            <a:r>
              <a:rPr lang="en-US" sz="2400" b="1" dirty="0">
                <a:solidFill>
                  <a:srgbClr val="2A2622"/>
                </a:solidFill>
                <a:latin typeface="Poppins" pitchFamily="34" charset="0"/>
                <a:ea typeface="Poppins" pitchFamily="34" charset="-122"/>
                <a:cs typeface="Poppins" pitchFamily="34" charset="-120"/>
              </a:rPr>
              <a:t>Perkenalan</a:t>
            </a:r>
            <a:endParaRPr lang="en-US" sz="2400" dirty="0"/>
          </a:p>
        </p:txBody>
      </p:sp>
      <p:sp>
        <p:nvSpPr>
          <p:cNvPr id="8" name="Text 6"/>
          <p:cNvSpPr/>
          <p:nvPr/>
        </p:nvSpPr>
        <p:spPr>
          <a:xfrm>
            <a:off x="640080" y="3886200"/>
            <a:ext cx="2384984" cy="457200"/>
          </a:xfrm>
          <a:prstGeom prst="rect">
            <a:avLst/>
          </a:prstGeom>
          <a:noFill/>
          <a:ln/>
        </p:spPr>
        <p:txBody>
          <a:bodyPr wrap="square" lIns="0" tIns="0" rIns="0" bIns="0" rtlCol="0" anchor="t"/>
          <a:lstStyle/>
          <a:p>
            <a:pPr algn="ctr" indent="0" marL="0">
              <a:buNone/>
            </a:pPr>
            <a:r>
              <a:rPr lang="en-US" sz="2200" dirty="0">
                <a:solidFill>
                  <a:srgbClr val="6E6660"/>
                </a:solidFill>
                <a:latin typeface="Poppins" pitchFamily="34" charset="0"/>
                <a:ea typeface="Poppins" pitchFamily="34" charset="-122"/>
                <a:cs typeface="Poppins" pitchFamily="34" charset="-120"/>
              </a:rPr>
              <a:t>[minggu 1]</a:t>
            </a:r>
            <a:endParaRPr lang="en-US" sz="2200" dirty="0"/>
          </a:p>
        </p:txBody>
      </p:sp>
      <p:sp>
        <p:nvSpPr>
          <p:cNvPr id="9" name="Shape 7"/>
          <p:cNvSpPr/>
          <p:nvPr/>
        </p:nvSpPr>
        <p:spPr>
          <a:xfrm>
            <a:off x="4501020" y="3319272"/>
            <a:ext cx="347472" cy="347472"/>
          </a:xfrm>
          <a:prstGeom prst="ellipse">
            <a:avLst/>
          </a:prstGeom>
          <a:solidFill>
            <a:srgbClr val="FEAF0D"/>
          </a:solidFill>
          <a:ln w="3175">
            <a:solidFill>
              <a:srgbClr val="FEAF0D"/>
            </a:solidFill>
            <a:prstDash val="solid"/>
          </a:ln>
        </p:spPr>
      </p:sp>
      <p:sp>
        <p:nvSpPr>
          <p:cNvPr id="10" name="Text 8"/>
          <p:cNvSpPr/>
          <p:nvPr/>
        </p:nvSpPr>
        <p:spPr>
          <a:xfrm>
            <a:off x="3482264" y="2212848"/>
            <a:ext cx="2384984" cy="868680"/>
          </a:xfrm>
          <a:prstGeom prst="rect">
            <a:avLst/>
          </a:prstGeom>
          <a:noFill/>
          <a:ln/>
        </p:spPr>
        <p:txBody>
          <a:bodyPr wrap="square" lIns="0" tIns="0" rIns="0" bIns="0" rtlCol="0" anchor="t"/>
          <a:lstStyle/>
          <a:p>
            <a:pPr algn="ctr" indent="0" marL="0">
              <a:buNone/>
            </a:pPr>
            <a:r>
              <a:rPr lang="en-US" sz="2400" b="1" dirty="0">
                <a:solidFill>
                  <a:srgbClr val="2A2622"/>
                </a:solidFill>
                <a:latin typeface="Poppins" pitchFamily="34" charset="0"/>
                <a:ea typeface="Poppins" pitchFamily="34" charset="-122"/>
                <a:cs typeface="Poppins" pitchFamily="34" charset="-120"/>
              </a:rPr>
              <a:t>Uji coba terbatas</a:t>
            </a:r>
            <a:endParaRPr lang="en-US" sz="2400" dirty="0"/>
          </a:p>
        </p:txBody>
      </p:sp>
      <p:sp>
        <p:nvSpPr>
          <p:cNvPr id="11" name="Text 9"/>
          <p:cNvSpPr/>
          <p:nvPr/>
        </p:nvSpPr>
        <p:spPr>
          <a:xfrm>
            <a:off x="3482264" y="3886200"/>
            <a:ext cx="2384984" cy="457200"/>
          </a:xfrm>
          <a:prstGeom prst="rect">
            <a:avLst/>
          </a:prstGeom>
          <a:noFill/>
          <a:ln/>
        </p:spPr>
        <p:txBody>
          <a:bodyPr wrap="square" lIns="0" tIns="0" rIns="0" bIns="0" rtlCol="0" anchor="t"/>
          <a:lstStyle/>
          <a:p>
            <a:pPr algn="ctr" indent="0" marL="0">
              <a:buNone/>
            </a:pPr>
            <a:r>
              <a:rPr lang="en-US" sz="2200" dirty="0">
                <a:solidFill>
                  <a:srgbClr val="6E6660"/>
                </a:solidFill>
                <a:latin typeface="Poppins" pitchFamily="34" charset="0"/>
                <a:ea typeface="Poppins" pitchFamily="34" charset="-122"/>
                <a:cs typeface="Poppins" pitchFamily="34" charset="-120"/>
              </a:rPr>
              <a:t>[minggu 2-3]</a:t>
            </a:r>
            <a:endParaRPr lang="en-US" sz="2200" dirty="0"/>
          </a:p>
        </p:txBody>
      </p:sp>
      <p:sp>
        <p:nvSpPr>
          <p:cNvPr id="12" name="Shape 10"/>
          <p:cNvSpPr/>
          <p:nvPr/>
        </p:nvSpPr>
        <p:spPr>
          <a:xfrm>
            <a:off x="7343204" y="3319272"/>
            <a:ext cx="347472" cy="347472"/>
          </a:xfrm>
          <a:prstGeom prst="ellipse">
            <a:avLst/>
          </a:prstGeom>
          <a:solidFill>
            <a:srgbClr val="FEAF0D"/>
          </a:solidFill>
          <a:ln w="3175">
            <a:solidFill>
              <a:srgbClr val="FEAF0D"/>
            </a:solidFill>
            <a:prstDash val="solid"/>
          </a:ln>
        </p:spPr>
      </p:sp>
      <p:sp>
        <p:nvSpPr>
          <p:cNvPr id="13" name="Text 11"/>
          <p:cNvSpPr/>
          <p:nvPr/>
        </p:nvSpPr>
        <p:spPr>
          <a:xfrm>
            <a:off x="6324448" y="2212848"/>
            <a:ext cx="2384984" cy="868680"/>
          </a:xfrm>
          <a:prstGeom prst="rect">
            <a:avLst/>
          </a:prstGeom>
          <a:noFill/>
          <a:ln/>
        </p:spPr>
        <p:txBody>
          <a:bodyPr wrap="square" lIns="0" tIns="0" rIns="0" bIns="0" rtlCol="0" anchor="t"/>
          <a:lstStyle/>
          <a:p>
            <a:pPr algn="ctr" indent="0" marL="0">
              <a:buNone/>
            </a:pPr>
            <a:r>
              <a:rPr lang="en-US" sz="2400" b="1" dirty="0">
                <a:solidFill>
                  <a:srgbClr val="2A2622"/>
                </a:solidFill>
                <a:latin typeface="Poppins" pitchFamily="34" charset="0"/>
                <a:ea typeface="Poppins" pitchFamily="34" charset="-122"/>
                <a:cs typeface="Poppins" pitchFamily="34" charset="-120"/>
              </a:rPr>
              <a:t>Perbaikan</a:t>
            </a:r>
            <a:endParaRPr lang="en-US" sz="2400" dirty="0"/>
          </a:p>
        </p:txBody>
      </p:sp>
      <p:sp>
        <p:nvSpPr>
          <p:cNvPr id="14" name="Text 12"/>
          <p:cNvSpPr/>
          <p:nvPr/>
        </p:nvSpPr>
        <p:spPr>
          <a:xfrm>
            <a:off x="6324448" y="3886200"/>
            <a:ext cx="2384984" cy="457200"/>
          </a:xfrm>
          <a:prstGeom prst="rect">
            <a:avLst/>
          </a:prstGeom>
          <a:noFill/>
          <a:ln/>
        </p:spPr>
        <p:txBody>
          <a:bodyPr wrap="square" lIns="0" tIns="0" rIns="0" bIns="0" rtlCol="0" anchor="t"/>
          <a:lstStyle/>
          <a:p>
            <a:pPr algn="ctr" indent="0" marL="0">
              <a:buNone/>
            </a:pPr>
            <a:r>
              <a:rPr lang="en-US" sz="2200" dirty="0">
                <a:solidFill>
                  <a:srgbClr val="6E6660"/>
                </a:solidFill>
                <a:latin typeface="Poppins" pitchFamily="34" charset="0"/>
                <a:ea typeface="Poppins" pitchFamily="34" charset="-122"/>
                <a:cs typeface="Poppins" pitchFamily="34" charset="-120"/>
              </a:rPr>
              <a:t>[minggu 4]</a:t>
            </a:r>
            <a:endParaRPr lang="en-US" sz="2200" dirty="0"/>
          </a:p>
        </p:txBody>
      </p:sp>
      <p:sp>
        <p:nvSpPr>
          <p:cNvPr id="15" name="Shape 13"/>
          <p:cNvSpPr/>
          <p:nvPr/>
        </p:nvSpPr>
        <p:spPr>
          <a:xfrm>
            <a:off x="10185387" y="3319272"/>
            <a:ext cx="347472" cy="347472"/>
          </a:xfrm>
          <a:prstGeom prst="ellipse">
            <a:avLst/>
          </a:prstGeom>
          <a:solidFill>
            <a:srgbClr val="FEAF0D"/>
          </a:solidFill>
          <a:ln w="3175">
            <a:solidFill>
              <a:srgbClr val="FEAF0D"/>
            </a:solidFill>
            <a:prstDash val="solid"/>
          </a:ln>
        </p:spPr>
      </p:sp>
      <p:sp>
        <p:nvSpPr>
          <p:cNvPr id="16" name="Text 14"/>
          <p:cNvSpPr/>
          <p:nvPr/>
        </p:nvSpPr>
        <p:spPr>
          <a:xfrm>
            <a:off x="9166631" y="2212848"/>
            <a:ext cx="2384984" cy="868680"/>
          </a:xfrm>
          <a:prstGeom prst="rect">
            <a:avLst/>
          </a:prstGeom>
          <a:noFill/>
          <a:ln/>
        </p:spPr>
        <p:txBody>
          <a:bodyPr wrap="square" lIns="0" tIns="0" rIns="0" bIns="0" rtlCol="0" anchor="t"/>
          <a:lstStyle/>
          <a:p>
            <a:pPr algn="ctr" indent="0" marL="0">
              <a:buNone/>
            </a:pPr>
            <a:r>
              <a:rPr lang="en-US" sz="2400" b="1" dirty="0">
                <a:solidFill>
                  <a:srgbClr val="2A2622"/>
                </a:solidFill>
                <a:latin typeface="Poppins" pitchFamily="34" charset="0"/>
                <a:ea typeface="Poppins" pitchFamily="34" charset="-122"/>
                <a:cs typeface="Poppins" pitchFamily="34" charset="-120"/>
              </a:rPr>
              <a:t>Dipakai bersama</a:t>
            </a:r>
            <a:endParaRPr lang="en-US" sz="2400" dirty="0"/>
          </a:p>
        </p:txBody>
      </p:sp>
      <p:sp>
        <p:nvSpPr>
          <p:cNvPr id="17" name="Text 15"/>
          <p:cNvSpPr/>
          <p:nvPr/>
        </p:nvSpPr>
        <p:spPr>
          <a:xfrm>
            <a:off x="9166631" y="3886200"/>
            <a:ext cx="2384984" cy="457200"/>
          </a:xfrm>
          <a:prstGeom prst="rect">
            <a:avLst/>
          </a:prstGeom>
          <a:noFill/>
          <a:ln/>
        </p:spPr>
        <p:txBody>
          <a:bodyPr wrap="square" lIns="0" tIns="0" rIns="0" bIns="0" rtlCol="0" anchor="t"/>
          <a:lstStyle/>
          <a:p>
            <a:pPr algn="ctr" indent="0" marL="0">
              <a:buNone/>
            </a:pPr>
            <a:r>
              <a:rPr lang="en-US" sz="2200" dirty="0">
                <a:solidFill>
                  <a:srgbClr val="6E6660"/>
                </a:solidFill>
                <a:latin typeface="Poppins" pitchFamily="34" charset="0"/>
                <a:ea typeface="Poppins" pitchFamily="34" charset="-122"/>
                <a:cs typeface="Poppins" pitchFamily="34" charset="-120"/>
              </a:rPr>
              <a:t>[minggu 5]</a:t>
            </a:r>
            <a:endParaRPr lang="en-US" sz="2200" dirty="0"/>
          </a:p>
        </p:txBody>
      </p:sp>
      <p:sp>
        <p:nvSpPr>
          <p:cNvPr id="18" name="Text 16"/>
          <p:cNvSpPr/>
          <p:nvPr/>
        </p:nvSpPr>
        <p:spPr>
          <a:xfrm>
            <a:off x="640080" y="5029200"/>
            <a:ext cx="10911535"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Jadwal ini usulan, dan bisa berubah sesuai kesepakatan pengurus.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863840" y="2834640"/>
            <a:ext cx="4572000" cy="4572000"/>
          </a:xfrm>
          <a:prstGeom prst="ellipse">
            <a:avLst/>
          </a:prstGeom>
          <a:solidFill>
            <a:srgbClr val="FEAF0D"/>
          </a:solidFill>
          <a:ln w="3175">
            <a:solidFill>
              <a:srgbClr val="FEAF0D"/>
            </a:solidFill>
            <a:prstDash val="solid"/>
          </a:ln>
        </p:spPr>
      </p:sp>
      <p:sp>
        <p:nvSpPr>
          <p:cNvPr id="3" name="Text 1"/>
          <p:cNvSpPr/>
          <p:nvPr/>
        </p:nvSpPr>
        <p:spPr>
          <a:xfrm>
            <a:off x="640080" y="1325880"/>
            <a:ext cx="6766560" cy="960120"/>
          </a:xfrm>
          <a:prstGeom prst="rect">
            <a:avLst/>
          </a:prstGeom>
          <a:noFill/>
          <a:ln/>
        </p:spPr>
        <p:txBody>
          <a:bodyPr wrap="square" lIns="0" tIns="0" rIns="0" bIns="0" rtlCol="0" anchor="t"/>
          <a:lstStyle/>
          <a:p>
            <a:pPr indent="0" marL="0">
              <a:buNone/>
            </a:pPr>
            <a:r>
              <a:rPr lang="en-US" sz="5400" b="1" dirty="0">
                <a:solidFill>
                  <a:srgbClr val="2A2622"/>
                </a:solidFill>
                <a:latin typeface="Poppins" pitchFamily="34" charset="0"/>
                <a:ea typeface="Poppins" pitchFamily="34" charset="-122"/>
                <a:cs typeface="Poppins" pitchFamily="34" charset="-120"/>
              </a:rPr>
              <a:t>Terima kasih</a:t>
            </a:r>
            <a:endParaRPr lang="en-US" sz="5400" dirty="0"/>
          </a:p>
        </p:txBody>
      </p:sp>
      <p:sp>
        <p:nvSpPr>
          <p:cNvPr id="4" name="Text 2"/>
          <p:cNvSpPr/>
          <p:nvPr/>
        </p:nvSpPr>
        <p:spPr>
          <a:xfrm>
            <a:off x="640080" y="2377440"/>
            <a:ext cx="6858000" cy="1188720"/>
          </a:xfrm>
          <a:prstGeom prst="rect">
            <a:avLst/>
          </a:prstGeom>
          <a:noFill/>
          <a:ln/>
        </p:spPr>
        <p:txBody>
          <a:bodyPr wrap="square" lIns="0" tIns="0" rIns="0" bIns="0" rtlCol="0" anchor="t"/>
          <a:lstStyle/>
          <a:p>
            <a:pPr indent="0" marL="0">
              <a:buNone/>
            </a:pPr>
            <a:r>
              <a:rPr lang="en-US" sz="3400" dirty="0">
                <a:solidFill>
                  <a:srgbClr val="8A5A00"/>
                </a:solidFill>
                <a:latin typeface="Poppins" pitchFamily="34" charset="0"/>
                <a:ea typeface="Poppins" pitchFamily="34" charset="-122"/>
                <a:cs typeface="Poppins" pitchFamily="34" charset="-120"/>
              </a:rPr>
              <a:t>Mari mulai pakai Wargaja di [nama lingkungan].</a:t>
            </a:r>
            <a:endParaRPr lang="en-US" sz="3400" dirty="0"/>
          </a:p>
        </p:txBody>
      </p:sp>
      <p:sp>
        <p:nvSpPr>
          <p:cNvPr id="5" name="Text 3"/>
          <p:cNvSpPr/>
          <p:nvPr/>
        </p:nvSpPr>
        <p:spPr>
          <a:xfrm>
            <a:off x="640080" y="3749040"/>
            <a:ext cx="6858000" cy="457200"/>
          </a:xfrm>
          <a:prstGeom prst="rect">
            <a:avLst/>
          </a:prstGeom>
          <a:noFill/>
          <a:ln/>
        </p:spPr>
        <p:txBody>
          <a:bodyPr wrap="square" lIns="0" tIns="0" rIns="0" bIns="0" rtlCol="0" anchor="t"/>
          <a:lstStyle/>
          <a:p>
            <a:pPr indent="0" marL="0">
              <a:buNone/>
            </a:pPr>
            <a:r>
              <a:rPr lang="en-US" sz="2400" b="1" dirty="0">
                <a:solidFill>
                  <a:srgbClr val="2A2622"/>
                </a:solidFill>
                <a:latin typeface="Poppins" pitchFamily="34" charset="0"/>
                <a:ea typeface="Poppins" pitchFamily="34" charset="-122"/>
                <a:cs typeface="Poppins" pitchFamily="34" charset="-120"/>
              </a:rPr>
              <a:t>Sesi tanya jawab</a:t>
            </a:r>
            <a:endParaRPr lang="en-US" sz="2400" dirty="0"/>
          </a:p>
        </p:txBody>
      </p:sp>
      <p:sp>
        <p:nvSpPr>
          <p:cNvPr id="6" name="Text 4"/>
          <p:cNvSpPr/>
          <p:nvPr/>
        </p:nvSpPr>
        <p:spPr>
          <a:xfrm>
            <a:off x="640080" y="4389120"/>
            <a:ext cx="6858000"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Narahubung: [nama pengurus]</a:t>
            </a:r>
            <a:endParaRPr lang="en-US" sz="2200" dirty="0"/>
          </a:p>
        </p:txBody>
      </p:sp>
      <p:sp>
        <p:nvSpPr>
          <p:cNvPr id="7" name="Text 5"/>
          <p:cNvSpPr/>
          <p:nvPr/>
        </p:nvSpPr>
        <p:spPr>
          <a:xfrm>
            <a:off x="640080" y="4846320"/>
            <a:ext cx="6858000"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[nomor WhatsApp]</a:t>
            </a:r>
            <a:endParaRPr lang="en-US" sz="2200" dirty="0"/>
          </a:p>
        </p:txBody>
      </p:sp>
      <p:sp>
        <p:nvSpPr>
          <p:cNvPr id="8" name="Text 6"/>
          <p:cNvSpPr/>
          <p:nvPr/>
        </p:nvSpPr>
        <p:spPr>
          <a:xfrm>
            <a:off x="640080" y="5303520"/>
            <a:ext cx="6858000" cy="457200"/>
          </a:xfrm>
          <a:prstGeom prst="rect">
            <a:avLst/>
          </a:prstGeom>
          <a:noFill/>
          <a:ln/>
        </p:spPr>
        <p:txBody>
          <a:bodyPr wrap="square" lIns="0" tIns="0" rIns="0" bIns="0" rtlCol="0" anchor="t"/>
          <a:lstStyle/>
          <a:p>
            <a:pPr indent="0" marL="0">
              <a:buNone/>
            </a:pPr>
            <a:r>
              <a:rPr lang="en-US" sz="2200" dirty="0">
                <a:solidFill>
                  <a:srgbClr val="6E6660"/>
                </a:solidFill>
                <a:latin typeface="Poppins" pitchFamily="34" charset="0"/>
                <a:ea typeface="Poppins" pitchFamily="34" charset="-122"/>
                <a:cs typeface="Poppins" pitchFamily="34" charset="-120"/>
              </a:rPr>
              <a:t>[alamat email]</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868680"/>
          </a:xfrm>
          <a:prstGeom prst="rect">
            <a:avLst/>
          </a:prstGeom>
          <a:noFill/>
          <a:ln/>
        </p:spPr>
        <p:txBody>
          <a:bodyPr wrap="square" lIns="0" tIns="0" rIns="0" bIns="0" rtlCol="0" anchor="t"/>
          <a:lstStyle/>
          <a:p>
            <a:pPr indent="0" marL="0">
              <a:buNone/>
            </a:pPr>
            <a:r>
              <a:rPr lang="en-US" sz="4000" b="1" dirty="0">
                <a:solidFill>
                  <a:srgbClr val="2A2622"/>
                </a:solidFill>
                <a:latin typeface="Poppins" pitchFamily="34" charset="0"/>
                <a:ea typeface="Poppins" pitchFamily="34" charset="-122"/>
                <a:cs typeface="Poppins" pitchFamily="34" charset="-120"/>
              </a:rPr>
              <a:t>Cadangan: tanya jawab</a:t>
            </a:r>
            <a:endParaRPr lang="en-US" sz="4000" dirty="0"/>
          </a:p>
        </p:txBody>
      </p:sp>
      <p:sp>
        <p:nvSpPr>
          <p:cNvPr id="3" name="Text 1"/>
          <p:cNvSpPr/>
          <p:nvPr/>
        </p:nvSpPr>
        <p:spPr>
          <a:xfrm>
            <a:off x="11002975" y="5943600"/>
            <a:ext cx="548640" cy="329184"/>
          </a:xfrm>
          <a:prstGeom prst="rect">
            <a:avLst/>
          </a:prstGeom>
          <a:noFill/>
          <a:ln/>
        </p:spPr>
        <p:txBody>
          <a:bodyPr wrap="square" lIns="0" tIns="0" rIns="0" bIns="0" rtlCol="0" anchor="t"/>
          <a:lstStyle/>
          <a:p>
            <a:pPr algn="r" indent="0" marL="0">
              <a:buNone/>
            </a:pPr>
            <a:r>
              <a:rPr lang="en-US" sz="1800" dirty="0">
                <a:solidFill>
                  <a:srgbClr val="6E6660"/>
                </a:solidFill>
                <a:latin typeface="Poppins" pitchFamily="34" charset="0"/>
                <a:ea typeface="Poppins" pitchFamily="34" charset="-122"/>
                <a:cs typeface="Poppins" pitchFamily="34" charset="-120"/>
              </a:rPr>
              <a:t>12</a:t>
            </a:r>
            <a:endParaRPr lang="en-US" sz="1800" dirty="0"/>
          </a:p>
        </p:txBody>
      </p:sp>
      <p:sp>
        <p:nvSpPr>
          <p:cNvPr id="4" name="Text 2"/>
          <p:cNvSpPr/>
          <p:nvPr/>
        </p:nvSpPr>
        <p:spPr>
          <a:xfrm>
            <a:off x="640080" y="1627632"/>
            <a:ext cx="10911535" cy="822960"/>
          </a:xfrm>
          <a:prstGeom prst="rect">
            <a:avLst/>
          </a:prstGeom>
          <a:noFill/>
          <a:ln/>
        </p:spPr>
        <p:txBody>
          <a:bodyPr wrap="square" lIns="0" tIns="0" rIns="0" bIns="0" rtlCol="0" anchor="t"/>
          <a:lstStyle/>
          <a:p>
            <a:pPr indent="0" marL="0">
              <a:spcAft>
                <a:spcPts val="600"/>
              </a:spcAft>
              <a:buNone/>
            </a:pPr>
            <a:r>
              <a:rPr lang="en-US" sz="2200" b="1" dirty="0">
                <a:solidFill>
                  <a:srgbClr val="2A2622"/>
                </a:solidFill>
                <a:latin typeface="Poppins" pitchFamily="34" charset="0"/>
                <a:ea typeface="Poppins" pitchFamily="34" charset="-122"/>
                <a:cs typeface="Poppins" pitchFamily="34" charset="-120"/>
              </a:rPr>
              <a:t>Apakah Wargaja berbayar?</a:t>
            </a:r>
            <a:endParaRPr lang="en-US" sz="2200" dirty="0"/>
          </a:p>
          <a:p>
            <a:pPr indent="0" marL="0">
              <a:buNone/>
            </a:pPr>
            <a:r>
              <a:rPr lang="en-US" sz="2200" dirty="0">
                <a:solidFill>
                  <a:srgbClr val="6E6660"/>
                </a:solidFill>
                <a:latin typeface="Poppins" pitchFamily="34" charset="0"/>
                <a:ea typeface="Poppins" pitchFamily="34" charset="-122"/>
                <a:cs typeface="Poppins" pitchFamily="34" charset="-120"/>
              </a:rPr>
              <a:t>Belum ada biaya untuk warga.</a:t>
            </a:r>
            <a:endParaRPr lang="en-US" sz="2200" dirty="0"/>
          </a:p>
        </p:txBody>
      </p:sp>
      <p:sp>
        <p:nvSpPr>
          <p:cNvPr id="5" name="Text 3"/>
          <p:cNvSpPr/>
          <p:nvPr/>
        </p:nvSpPr>
        <p:spPr>
          <a:xfrm>
            <a:off x="640080" y="2496312"/>
            <a:ext cx="10911535" cy="822960"/>
          </a:xfrm>
          <a:prstGeom prst="rect">
            <a:avLst/>
          </a:prstGeom>
          <a:noFill/>
          <a:ln/>
        </p:spPr>
        <p:txBody>
          <a:bodyPr wrap="square" lIns="0" tIns="0" rIns="0" bIns="0" rtlCol="0" anchor="t"/>
          <a:lstStyle/>
          <a:p>
            <a:pPr indent="0" marL="0">
              <a:spcAft>
                <a:spcPts val="600"/>
              </a:spcAft>
              <a:buNone/>
            </a:pPr>
            <a:r>
              <a:rPr lang="en-US" sz="2200" b="1" dirty="0">
                <a:solidFill>
                  <a:srgbClr val="2A2622"/>
                </a:solidFill>
                <a:latin typeface="Poppins" pitchFamily="34" charset="0"/>
                <a:ea typeface="Poppins" pitchFamily="34" charset="-122"/>
                <a:cs typeface="Poppins" pitchFamily="34" charset="-120"/>
              </a:rPr>
              <a:t>Bagaimana kalau saya tidak punya smartphone?</a:t>
            </a:r>
            <a:endParaRPr lang="en-US" sz="2200" dirty="0"/>
          </a:p>
          <a:p>
            <a:pPr indent="0" marL="0">
              <a:buNone/>
            </a:pPr>
            <a:r>
              <a:rPr lang="en-US" sz="2200" dirty="0">
                <a:solidFill>
                  <a:srgbClr val="6E6660"/>
                </a:solidFill>
                <a:latin typeface="Poppins" pitchFamily="34" charset="0"/>
                <a:ea typeface="Poppins" pitchFamily="34" charset="-122"/>
                <a:cs typeface="Poppins" pitchFamily="34" charset="-120"/>
              </a:rPr>
              <a:t>Bisa dibantu pengurus, atau lewat browser web di komputer.</a:t>
            </a:r>
            <a:endParaRPr lang="en-US" sz="2200" dirty="0"/>
          </a:p>
        </p:txBody>
      </p:sp>
      <p:sp>
        <p:nvSpPr>
          <p:cNvPr id="6" name="Text 4"/>
          <p:cNvSpPr/>
          <p:nvPr/>
        </p:nvSpPr>
        <p:spPr>
          <a:xfrm>
            <a:off x="640080" y="3364992"/>
            <a:ext cx="10911535" cy="822960"/>
          </a:xfrm>
          <a:prstGeom prst="rect">
            <a:avLst/>
          </a:prstGeom>
          <a:noFill/>
          <a:ln/>
        </p:spPr>
        <p:txBody>
          <a:bodyPr wrap="square" lIns="0" tIns="0" rIns="0" bIns="0" rtlCol="0" anchor="t"/>
          <a:lstStyle/>
          <a:p>
            <a:pPr indent="0" marL="0">
              <a:spcAft>
                <a:spcPts val="600"/>
              </a:spcAft>
              <a:buNone/>
            </a:pPr>
            <a:r>
              <a:rPr lang="en-US" sz="2200" b="1" dirty="0">
                <a:solidFill>
                  <a:srgbClr val="2A2622"/>
                </a:solidFill>
                <a:latin typeface="Poppins" pitchFamily="34" charset="0"/>
                <a:ea typeface="Poppins" pitchFamily="34" charset="-122"/>
                <a:cs typeface="Poppins" pitchFamily="34" charset="-120"/>
              </a:rPr>
              <a:t>Apakah data saya aman?</a:t>
            </a:r>
            <a:endParaRPr lang="en-US" sz="2200" dirty="0"/>
          </a:p>
          <a:p>
            <a:pPr indent="0" marL="0">
              <a:buNone/>
            </a:pPr>
            <a:r>
              <a:rPr lang="en-US" sz="2200" dirty="0">
                <a:solidFill>
                  <a:srgbClr val="6E6660"/>
                </a:solidFill>
                <a:latin typeface="Poppins" pitchFamily="34" charset="0"/>
                <a:ea typeface="Poppins" pitchFamily="34" charset="-122"/>
                <a:cs typeface="Poppins" pitchFamily="34" charset="-120"/>
              </a:rPr>
              <a:t>Data diisi sendiri oleh warga, dan tampilan dipisah menurut peran.</a:t>
            </a:r>
            <a:endParaRPr lang="en-US" sz="2200" dirty="0"/>
          </a:p>
        </p:txBody>
      </p:sp>
      <p:sp>
        <p:nvSpPr>
          <p:cNvPr id="7" name="Text 5"/>
          <p:cNvSpPr/>
          <p:nvPr/>
        </p:nvSpPr>
        <p:spPr>
          <a:xfrm>
            <a:off x="640080" y="4233672"/>
            <a:ext cx="10911535" cy="822960"/>
          </a:xfrm>
          <a:prstGeom prst="rect">
            <a:avLst/>
          </a:prstGeom>
          <a:noFill/>
          <a:ln/>
        </p:spPr>
        <p:txBody>
          <a:bodyPr wrap="square" lIns="0" tIns="0" rIns="0" bIns="0" rtlCol="0" anchor="t"/>
          <a:lstStyle/>
          <a:p>
            <a:pPr indent="0" marL="0">
              <a:spcAft>
                <a:spcPts val="600"/>
              </a:spcAft>
              <a:buNone/>
            </a:pPr>
            <a:r>
              <a:rPr lang="en-US" sz="2200" b="1" dirty="0">
                <a:solidFill>
                  <a:srgbClr val="2A2622"/>
                </a:solidFill>
                <a:latin typeface="Poppins" pitchFamily="34" charset="0"/>
                <a:ea typeface="Poppins" pitchFamily="34" charset="-122"/>
                <a:cs typeface="Poppins" pitchFamily="34" charset="-120"/>
              </a:rPr>
              <a:t>Siapa saja yang bisa melihat data saya?</a:t>
            </a:r>
            <a:endParaRPr lang="en-US" sz="2200" dirty="0"/>
          </a:p>
          <a:p>
            <a:pPr indent="0" marL="0">
              <a:buNone/>
            </a:pPr>
            <a:r>
              <a:rPr lang="en-US" sz="2200" dirty="0">
                <a:solidFill>
                  <a:srgbClr val="6E6660"/>
                </a:solidFill>
                <a:latin typeface="Poppins" pitchFamily="34" charset="0"/>
                <a:ea typeface="Poppins" pitchFamily="34" charset="-122"/>
                <a:cs typeface="Poppins" pitchFamily="34" charset="-120"/>
              </a:rPr>
              <a:t>Warga melihat datanya sendiri, pengurus hanya yang diperlukan.</a:t>
            </a:r>
            <a:endParaRPr lang="en-US" sz="2200" dirty="0"/>
          </a:p>
        </p:txBody>
      </p:sp>
      <p:sp>
        <p:nvSpPr>
          <p:cNvPr id="8" name="Text 6"/>
          <p:cNvSpPr/>
          <p:nvPr/>
        </p:nvSpPr>
        <p:spPr>
          <a:xfrm>
            <a:off x="640080" y="5102352"/>
            <a:ext cx="10911535" cy="822960"/>
          </a:xfrm>
          <a:prstGeom prst="rect">
            <a:avLst/>
          </a:prstGeom>
          <a:noFill/>
          <a:ln/>
        </p:spPr>
        <p:txBody>
          <a:bodyPr wrap="square" lIns="0" tIns="0" rIns="0" bIns="0" rtlCol="0" anchor="t"/>
          <a:lstStyle/>
          <a:p>
            <a:pPr indent="0" marL="0">
              <a:spcAft>
                <a:spcPts val="600"/>
              </a:spcAft>
              <a:buNone/>
            </a:pPr>
            <a:r>
              <a:rPr lang="en-US" sz="2200" b="1" dirty="0">
                <a:solidFill>
                  <a:srgbClr val="2A2622"/>
                </a:solidFill>
                <a:latin typeface="Poppins" pitchFamily="34" charset="0"/>
                <a:ea typeface="Poppins" pitchFamily="34" charset="-122"/>
                <a:cs typeface="Poppins" pitchFamily="34" charset="-120"/>
              </a:rPr>
              <a:t>Bagaimana kalau saya lupa kata sandi?</a:t>
            </a:r>
            <a:endParaRPr lang="en-US" sz="2200" dirty="0"/>
          </a:p>
          <a:p>
            <a:pPr indent="0" marL="0">
              <a:buNone/>
            </a:pPr>
            <a:r>
              <a:rPr lang="en-US" sz="2200" dirty="0">
                <a:solidFill>
                  <a:srgbClr val="6E6660"/>
                </a:solidFill>
                <a:latin typeface="Poppins" pitchFamily="34" charset="0"/>
                <a:ea typeface="Poppins" pitchFamily="34" charset="-122"/>
                <a:cs typeface="Poppins" pitchFamily="34" charset="-120"/>
              </a:rPr>
              <a:t>Di halaman masuk ada menu Lupa kata sandi.</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2026-10-16T12:49:13Z</dcterms:created>
  <dcterms:modified xsi:type="dcterms:W3CDTF">2026-10-16T12:49:13Z</dcterms:modified>
</cp:coreProperties>
</file>