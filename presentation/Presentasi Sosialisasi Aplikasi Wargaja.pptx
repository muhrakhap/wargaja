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</ns0:sldIdLst>
  <ns0:sldSz cx="12192000" cy="6858000" type="screen4x3"/>
  <ns0:notesSz cx="6858000" cy="9144000"/>
  <ns0:embeddedFontLst>
    <ns0:embeddedFont>
      <ns0:font typeface="Plus Jakarta Sans"/>
      <ns0:bold ns1:id="rIdFont21"/>
      <ns0:regular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Font21" Type="http://schemas.openxmlformats.org/officeDocument/2006/relationships/font" Target="fonts/867de154-5ec8-4757-9df5-ec986e460ba2.fntdata" /><ns0:Relationship Id="rIdFont22" Type="http://schemas.openxmlformats.org/officeDocument/2006/relationships/font" Target="fonts/7172791a-47bc-46ef-9ff2-63f5c1d42d8b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38522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43453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APLIKASI LAYANAN RT/RW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748855"/>
            <a:ext cx="11582400" cy="5695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Sosialisasi Aplikasi Wargaja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508920"/>
            <a:ext cx="6286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Platform digital terpadu untuk kemudahan pengelolaan transparansi keuangan, kegiatan warga, dan administrasi lingkungan.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19400"/>
            <a:ext cx="3505200" cy="1866900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19400"/>
            <a:ext cx="3505200" cy="1866900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19400"/>
            <a:ext cx="3505200" cy="1866900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095625"/>
            <a:ext cx="20002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095625"/>
            <a:ext cx="33337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095625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TANTANGAN LINGKUNGAN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Mengapa Perlu Modernisasi RT/RW?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514725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Pencatatan Manual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810000"/>
            <a:ext cx="3048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Proses iuran dan kas lingkungan masih menggunakan pembukuan kertas yang rentan hilang.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514725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Kurang Transparan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3810000"/>
            <a:ext cx="3048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Warga sering kesulitan memantau laporan pengeluaran dan saldo kas RT/RW secara akurat.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514725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Komunikasi Terpisah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3810000"/>
            <a:ext cx="3048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Informasi kegiatan dan pengumuman warga tersebar di banyak grup pesan tanpa arsip terstruktur.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48350" y="2586037"/>
            <a:ext cx="5734050" cy="2105025"/>
          </a:xfrm>
          <a:prstGeom prst="roundRect">
            <a:avLst>
              <a:gd name="adj" fmla="val 7239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5" y="2986087"/>
            <a:ext cx="571500" cy="76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895725"/>
            <a:ext cx="171450" cy="171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181475"/>
            <a:ext cx="17145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467225"/>
            <a:ext cx="171450" cy="17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SOLUSI TERPADU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Mengenal Aplikasi Wargaja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638425"/>
            <a:ext cx="647580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Satu Platform untuk Seluruh Warga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019425"/>
            <a:ext cx="5029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Aplikasi Wargaja dirancang untuk memudahkan interaksi antara pengurus RT/RW dan warga dalam satu genggaman secara aman, fleksibel, dan transparan.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31656" y="3900487"/>
            <a:ext cx="6167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Akses Aksesibilitas Mudah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1656" y="4138612"/>
            <a:ext cx="6167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Dapat diakses melalui Smartphone Android &amp; 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3895725"/>
            <a:ext cx="3024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Pencatatan iuran real-time &amp; otomatis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350" y="4181475"/>
            <a:ext cx="3714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Laporan keuangan terbuka untuk seluruh warga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" y="4467225"/>
            <a:ext cx="40600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Jadwal kegiatan dan pengumuman resmi lingkungan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3062287"/>
            <a:ext cx="5334000" cy="11525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48400" y="3062287"/>
            <a:ext cx="5334000" cy="11525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3062287"/>
            <a:ext cx="38100" cy="11525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48400" y="3062287"/>
            <a:ext cx="38100" cy="11525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MODUL UTAM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Pengelolaan Iuran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290887"/>
            <a:ext cx="635079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Pembayaran Mudah &amp; Tepat Waktu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586162"/>
            <a:ext cx="49339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Warga menerima notifikasi pengingat iuran bulanan dan pembayaran dapat dikonfirmasi langsung ke pengurus.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3290887"/>
            <a:ext cx="56769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Bukti Pembayaran Digital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100" y="3586162"/>
            <a:ext cx="49339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Setiap transaksi tercatat otomatis dan riwayat pembayaran tersimpan rapi sebagai bukti sah.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14650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14650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14650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AKUNTABILITAS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Laporan Keuangan Real-Time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731" y="3190875"/>
            <a:ext cx="3690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66534"/>
                </a:solidFill>
                <a:latin typeface="Plus Jakarta Sans"/>
              </a:rPr>
              <a:t>Pemasukan Kas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731" y="3438525"/>
            <a:ext cx="3690937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15803D"/>
                </a:solidFill>
                <a:latin typeface="Plus Jakarta Sans"/>
              </a:rPr>
              <a:t>Rp 7.000.000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731" y="3943350"/>
            <a:ext cx="369093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166534"/>
                </a:solidFill>
                <a:latin typeface="Plus Jakarta Sans"/>
              </a:rPr>
              <a:t>Terakumulasi bulan ini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0531" y="3190875"/>
            <a:ext cx="3690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991B1B"/>
                </a:solidFill>
                <a:latin typeface="Plus Jakarta Sans"/>
              </a:rPr>
              <a:t>Pengeluaran Kas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0531" y="3438525"/>
            <a:ext cx="3690937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B91C1C"/>
                </a:solidFill>
                <a:latin typeface="Plus Jakarta Sans"/>
              </a:rPr>
              <a:t>Rp 4.000.000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0531" y="3943350"/>
            <a:ext cx="369093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991B1B"/>
                </a:solidFill>
                <a:latin typeface="Plus Jakarta Sans"/>
              </a:rPr>
              <a:t>Untuk kegiatan &amp; perbaikan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4331" y="3190875"/>
            <a:ext cx="3690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E40AF"/>
                </a:solidFill>
                <a:latin typeface="Plus Jakarta Sans"/>
              </a:rPr>
              <a:t>Saldo Akhir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4331" y="3438525"/>
            <a:ext cx="3690937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1D4ED8"/>
                </a:solidFill>
                <a:latin typeface="Plus Jakarta Sans"/>
              </a:rPr>
              <a:t>Rp 3.000.000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4331" y="3943350"/>
            <a:ext cx="369093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1E40AF"/>
                </a:solidFill>
                <a:latin typeface="Plus Jakarta Sans"/>
              </a:rPr>
              <a:t>Saldo Kas RT/RW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05162"/>
            <a:ext cx="5372100" cy="866775"/>
          </a:xfrm>
          <a:prstGeom prst="roundRect">
            <a:avLst>
              <a:gd name="adj" fmla="val 131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3205162"/>
            <a:ext cx="5372100" cy="866775"/>
          </a:xfrm>
          <a:prstGeom prst="roundRect">
            <a:avLst>
              <a:gd name="adj" fmla="val 131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467100"/>
            <a:ext cx="304800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3467100"/>
            <a:ext cx="428625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KEBERSAMAAN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Manajemen Agenda &amp; Kegiatan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4925" y="3443287"/>
            <a:ext cx="497562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Kalender Lingkungan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4925" y="3681412"/>
            <a:ext cx="4738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Jadwal kerja bakti, posyandu, dan rapat RT tercatat secara berkala.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29450" y="3443287"/>
            <a:ext cx="43880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Partisipasi Warga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9450" y="3681412"/>
            <a:ext cx="4179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Konfirmasi kehadiran acara warga langsung dalam aplikasi.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47987"/>
            <a:ext cx="3530500" cy="1381125"/>
          </a:xfrm>
          <a:prstGeom prst="roundRect">
            <a:avLst>
              <a:gd name="adj" fmla="val 82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600" y="2947987"/>
            <a:ext cx="3530649" cy="1381125"/>
          </a:xfrm>
          <a:prstGeom prst="roundRect">
            <a:avLst>
              <a:gd name="adj" fmla="val 82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750" y="2947987"/>
            <a:ext cx="3530500" cy="1381125"/>
          </a:xfrm>
          <a:prstGeom prst="roundRect">
            <a:avLst>
              <a:gd name="adj" fmla="val 82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22450" y="314801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451" y="314801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64600" y="314801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EFISIENSI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Pengurusan Surat Pengantar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9575" y="3148012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492" y="3567112"/>
            <a:ext cx="410871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00000"/>
                </a:solidFill>
                <a:latin typeface="Plus Jakarta Sans"/>
              </a:rPr>
              <a:t>Pengajuan 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318" y="3824287"/>
            <a:ext cx="3913063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Warga mengisi formulir pengajuan surat pengantar dari HP.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0576" y="3148012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469" y="3567112"/>
            <a:ext cx="410891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00000"/>
                </a:solidFill>
                <a:latin typeface="Plus Jakarta Sans"/>
              </a:rPr>
              <a:t>Verifikasi Pengurus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9300" y="3824287"/>
            <a:ext cx="391324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Pengurus RT/RW menyetujui dokumen secara langsung.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1725" y="3148012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62642" y="3567112"/>
            <a:ext cx="410871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00000"/>
                </a:solidFill>
                <a:latin typeface="Plus Jakarta Sans"/>
              </a:rPr>
              <a:t>Unduh Dokumen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0469" y="3824287"/>
            <a:ext cx="3913063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Surat pengantar siap diunduh atau dicetak tanpa perlu mengantre.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05112"/>
            <a:ext cx="5334000" cy="1666875"/>
          </a:xfrm>
          <a:prstGeom prst="roundRect">
            <a:avLst>
              <a:gd name="adj" fmla="val 6857"/>
            </a:avLst>
          </a:prstGeom>
          <a:solidFill>
            <a:srgbClr val="FFF7ED"/>
          </a:solidFill>
          <a:ln w="9525">
            <a:solidFill>
              <a:srgbClr val="FFE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05112"/>
            <a:ext cx="5334000" cy="1666875"/>
          </a:xfrm>
          <a:prstGeom prst="roundRect">
            <a:avLst>
              <a:gd name="adj" fmla="val 6857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081337"/>
            <a:ext cx="2667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3081337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INFORMASI CEPAT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Pemberitahuan &amp; Darurat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500437"/>
            <a:ext cx="62757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Pengumuman Penting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795712"/>
            <a:ext cx="4876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Pemberitahuan resmi terkait pemadaman listrik, jadwal kebersihan, atau imbauan keamanan langsung ke HP warga.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3500437"/>
            <a:ext cx="5667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Tombol Bantuan Darurat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3795712"/>
            <a:ext cx="4876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Fitur penanda kondisi darurat untuk memberi sinyal bantuan cepat kepada pengurus dan tetangga terdekat.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76575"/>
            <a:ext cx="5372100" cy="1123950"/>
          </a:xfrm>
          <a:prstGeom prst="roundRect">
            <a:avLst>
              <a:gd name="adj" fmla="val 101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3076575"/>
            <a:ext cx="5372100" cy="1123950"/>
          </a:xfrm>
          <a:prstGeom prst="roundRect">
            <a:avLst>
              <a:gd name="adj" fmla="val 101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343275"/>
            <a:ext cx="13335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3343275"/>
            <a:ext cx="19050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KEAMANAN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Perlindungan Data Warga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314700"/>
            <a:ext cx="6425803" cy="20002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Enkripsi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590925"/>
            <a:ext cx="6119812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Data kependudukan dan keuangan terlindungi dengan standar enkripsi terpercaya.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8425" y="3314700"/>
            <a:ext cx="5743575" cy="2000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Akses Terbatas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8425" y="3590925"/>
            <a:ext cx="49911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Hanya warga terverifikasi yang dapat mengakses informasi internal lingkungan RT/RW.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68325" y="1514475"/>
            <a:ext cx="2190750" cy="4191000"/>
          </a:xfrm>
          <a:prstGeom prst="roundRect">
            <a:avLst>
              <a:gd name="adj" fmla="val 12173"/>
            </a:avLst>
          </a:prstGeom>
          <a:solidFill>
            <a:srgbClr val="FFFFFF"/>
          </a:solidFill>
          <a:ln w="762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00476" y="1776412"/>
            <a:ext cx="2190750" cy="4191000"/>
          </a:xfrm>
          <a:prstGeom prst="roundRect">
            <a:avLst>
              <a:gd name="adj" fmla="val 12173"/>
            </a:avLst>
          </a:prstGeom>
          <a:solidFill>
            <a:srgbClr val="FFFFFF"/>
          </a:solidFill>
          <a:ln w="762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32626" y="1423987"/>
            <a:ext cx="2190750" cy="4191000"/>
          </a:xfrm>
          <a:prstGeom prst="roundRect">
            <a:avLst>
              <a:gd name="adj" fmla="val 12173"/>
            </a:avLst>
          </a:prstGeom>
          <a:solidFill>
            <a:srgbClr val="FFFFFF"/>
          </a:solidFill>
          <a:ln w="762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58825" y="1924050"/>
            <a:ext cx="1809750" cy="438150"/>
          </a:xfrm>
          <a:prstGeom prst="roundRect">
            <a:avLst>
              <a:gd name="adj" fmla="val 21739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58825" y="2457450"/>
            <a:ext cx="1809750" cy="628650"/>
          </a:xfrm>
          <a:prstGeom prst="roundRect">
            <a:avLst>
              <a:gd name="adj" fmla="val 15151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190976" y="2214562"/>
            <a:ext cx="1809750" cy="200025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90976" y="2128837"/>
            <a:ext cx="18097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90976" y="2490787"/>
            <a:ext cx="1809750" cy="704850"/>
          </a:xfrm>
          <a:prstGeom prst="roundRect">
            <a:avLst>
              <a:gd name="adj" fmla="val 13513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90976" y="3452812"/>
            <a:ext cx="1809750" cy="304800"/>
          </a:xfrm>
          <a:prstGeom prst="roundRect">
            <a:avLst>
              <a:gd name="adj" fmla="val 1875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90976" y="3833812"/>
            <a:ext cx="1809750" cy="304800"/>
          </a:xfrm>
          <a:prstGeom prst="roundRect">
            <a:avLst>
              <a:gd name="adj" fmla="val 1875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823126" y="1814512"/>
            <a:ext cx="1809750" cy="447675"/>
          </a:xfrm>
          <a:prstGeom prst="roundRect">
            <a:avLst>
              <a:gd name="adj" fmla="val 170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23126" y="2338387"/>
            <a:ext cx="1809750" cy="828675"/>
          </a:xfrm>
          <a:prstGeom prst="roundRect">
            <a:avLst>
              <a:gd name="adj" fmla="val 9195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54075" y="2838450"/>
            <a:ext cx="1619250" cy="152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58825" y="3429000"/>
            <a:ext cx="866775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501800" y="3429000"/>
            <a:ext cx="866775" cy="485775"/>
          </a:xfrm>
          <a:prstGeom prst="roundRect">
            <a:avLst>
              <a:gd name="adj" fmla="val 1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10026" y="2233612"/>
            <a:ext cx="885825" cy="161925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08851" y="2500312"/>
            <a:ext cx="447675" cy="123825"/>
          </a:xfrm>
          <a:prstGeom prst="roundRect">
            <a:avLst>
              <a:gd name="adj" fmla="val 30769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08851" y="2928937"/>
            <a:ext cx="1638300" cy="152400"/>
          </a:xfrm>
          <a:prstGeom prst="roundRect">
            <a:avLst>
              <a:gd name="adj" fmla="val 25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104834" y="2119312"/>
            <a:ext cx="225921" cy="8572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800" y="1709737"/>
            <a:ext cx="104775" cy="1143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538" y="3562350"/>
            <a:ext cx="133350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8513" y="3562350"/>
            <a:ext cx="133350" cy="133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8851" y="2795587"/>
            <a:ext cx="66675" cy="666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7200" y="381000"/>
            <a:ext cx="11734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FITUR UNGGULAN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71500"/>
            <a:ext cx="117348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Tampilan Antarmuka Aplikasi Wargaja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02841" y="5838825"/>
            <a:ext cx="23217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Kaya fitur nan multi-fungsi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05226" y="1281112"/>
            <a:ext cx="23812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Keuangan terjamin transparan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7376" y="5748337"/>
            <a:ext cx="23812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Kemudahan atur kegiatan warga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8825" y="3219450"/>
            <a:ext cx="226218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000000"/>
                </a:solidFill>
                <a:latin typeface="Plus Jakarta Sans"/>
              </a:rPr>
              <a:t>Menu Warga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4757" y="1966912"/>
            <a:ext cx="226218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000000"/>
                </a:solidFill>
                <a:latin typeface="Plus Jakarta Sans"/>
              </a:rPr>
              <a:t>Transparansi Keuangan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90976" y="3271837"/>
            <a:ext cx="2262187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675" i="0" u="none">
                <a:solidFill>
                  <a:srgbClr val="000000"/>
                </a:solidFill>
                <a:latin typeface="Plus Jakarta Sans"/>
              </a:rPr>
              <a:t>Pemasukan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6907" y="1614487"/>
            <a:ext cx="2262187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000000"/>
                </a:solidFill>
                <a:latin typeface="Plus Jakarta Sans"/>
              </a:rPr>
              <a:t>Kegiatan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8825" y="1704975"/>
            <a:ext cx="638175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00000"/>
                </a:solidFill>
                <a:latin typeface="Plus Jakarta Sans"/>
              </a:rPr>
              <a:t>Rumah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54075" y="2019300"/>
            <a:ext cx="202406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675" i="0" u="none">
                <a:solidFill>
                  <a:srgbClr val="F8FAFC"/>
                </a:solidFill>
                <a:latin typeface="Plus Jakarta Sans"/>
              </a:rPr>
              <a:t>Selamat datang kembali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54075" y="2124075"/>
            <a:ext cx="20240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8FAFC"/>
                </a:solidFill>
                <a:latin typeface="Plus Jakarta Sans"/>
              </a:rPr>
              <a:t>Warga RW 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54075" y="2552700"/>
            <a:ext cx="2024062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FFFFFF"/>
                </a:solidFill>
                <a:latin typeface="Plus Jakarta Sans"/>
              </a:rPr>
              <a:t>Jatuh Tempo Iuran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54075" y="2686050"/>
            <a:ext cx="2024062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600" i="0" u="none">
                <a:solidFill>
                  <a:srgbClr val="FFFFFF"/>
                </a:solidFill>
                <a:latin typeface="Plus Jakarta Sans"/>
              </a:rPr>
              <a:t>Segera bayar iuran bulan ini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80244" y="2867025"/>
            <a:ext cx="1966912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" i="0" u="none">
                <a:solidFill>
                  <a:srgbClr val="F43F5E"/>
                </a:solidFill>
                <a:latin typeface="Plus Jakarta Sans"/>
              </a:rPr>
              <a:t>Lihat Detail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95726" y="2262187"/>
            <a:ext cx="1114425" cy="104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75" i="0" u="none">
                <a:solidFill>
                  <a:srgbClr val="F8FAFC"/>
                </a:solidFill>
                <a:latin typeface="Plus Jakarta Sans"/>
              </a:rPr>
              <a:t>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1551" y="2262187"/>
            <a:ext cx="1114425" cy="104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675" i="0" u="none">
                <a:solidFill>
                  <a:srgbClr val="64748B"/>
                </a:solidFill>
                <a:latin typeface="Plus Jakarta Sans"/>
              </a:rPr>
              <a:t>RW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86226" y="2586037"/>
            <a:ext cx="202406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675" i="0" u="none">
                <a:solidFill>
                  <a:srgbClr val="F8FAFC"/>
                </a:solidFill>
                <a:latin typeface="Plus Jakarta Sans"/>
              </a:rPr>
              <a:t>Keuangan 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86226" y="2709862"/>
            <a:ext cx="2024062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600" i="0" u="none">
                <a:solidFill>
                  <a:srgbClr val="F8FAFC"/>
                </a:solidFill>
                <a:latin typeface="Plus Jakarta Sans"/>
              </a:rPr>
              <a:t>Total Pemasukan: Rp 5.000.000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86226" y="2824162"/>
            <a:ext cx="2024062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600" i="0" u="none">
                <a:solidFill>
                  <a:srgbClr val="F8FAFC"/>
                </a:solidFill>
                <a:latin typeface="Plus Jakarta Sans"/>
              </a:rPr>
              <a:t>Total Pengeluaran: Rp 4.000.000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43501" y="3557587"/>
            <a:ext cx="885825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600" i="0" u="none">
                <a:solidFill>
                  <a:srgbClr val="16A34A"/>
                </a:solidFill>
                <a:latin typeface="Plus Jakarta Sans"/>
              </a:rPr>
              <a:t>+Rp 5.000.000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43501" y="3938587"/>
            <a:ext cx="885825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600" i="0" u="none">
                <a:solidFill>
                  <a:srgbClr val="16A34A"/>
                </a:solidFill>
                <a:latin typeface="Plus Jakarta Sans"/>
              </a:rPr>
              <a:t>+Rp 2.000.000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68345" y="1871662"/>
            <a:ext cx="211931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675" i="0" u="none">
                <a:solidFill>
                  <a:srgbClr val="0F172A"/>
                </a:solidFill>
                <a:latin typeface="Plus Jakarta Sans"/>
              </a:rPr>
              <a:t>Desember 2025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46951" y="2519362"/>
            <a:ext cx="466725" cy="85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525" i="0" u="none">
                <a:solidFill>
                  <a:srgbClr val="FFFFFF"/>
                </a:solidFill>
                <a:latin typeface="Plus Jakarta Sans"/>
              </a:rPr>
              <a:t>Pendidikan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08851" y="2662237"/>
            <a:ext cx="2047875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675" i="0" u="none">
                <a:solidFill>
                  <a:srgbClr val="000000"/>
                </a:solidFill>
                <a:latin typeface="Plus Jakarta Sans"/>
              </a:rPr>
              <a:t>Kegiatan Literasi Bersama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08851" y="2786062"/>
            <a:ext cx="2047875" cy="85725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/>
            <a:r>
              <a:rPr b="0" sz="525" i="0" u="none">
                <a:solidFill>
                  <a:srgbClr val="64748B"/>
                </a:solidFill>
                <a:latin typeface="Plus Jakarta Sans"/>
              </a:rPr>
              <a:t>14:00 | Gedung Serbaguna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639" y="2957512"/>
            <a:ext cx="1990725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" i="0" u="none">
                <a:solidFill>
                  <a:srgbClr val="FFFFFF"/>
                </a:solidFill>
                <a:latin typeface="Plus Jakarta Sans"/>
              </a:rPr>
              <a:t>Lihat Detail 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01675" y="3733800"/>
            <a:ext cx="981075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600" i="0" u="none">
                <a:solidFill>
                  <a:srgbClr val="000000"/>
                </a:solidFill>
                <a:latin typeface="Plus Jakarta Sans"/>
              </a:rPr>
              <a:t>Bayar Iuran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44650" y="3733800"/>
            <a:ext cx="981075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600" i="0" u="none">
                <a:solidFill>
                  <a:srgbClr val="000000"/>
                </a:solidFill>
                <a:latin typeface="Plus Jakarta Sans"/>
              </a:rPr>
              <a:t>Riwayat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86226" y="2995612"/>
            <a:ext cx="74295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675" i="0" u="none">
                <a:solidFill>
                  <a:srgbClr val="F8FAFC"/>
                </a:solidFill>
                <a:latin typeface="Plus Jakarta Sans"/>
              </a:rPr>
              <a:t>Saldo Akhir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33976" y="2995612"/>
            <a:ext cx="85725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675" i="0" u="none">
                <a:solidFill>
                  <a:srgbClr val="F8FAFC"/>
                </a:solidFill>
                <a:latin typeface="Plus Jakarta Sans"/>
              </a:rPr>
              <a:t>Rp 1.000.000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48126" y="3509962"/>
            <a:ext cx="1057275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600" i="0" u="none">
                <a:solidFill>
                  <a:srgbClr val="000000"/>
                </a:solidFill>
                <a:latin typeface="Plus Jakarta Sans"/>
              </a:rPr>
              <a:t>Iuran Bulanan Warga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48126" y="3605212"/>
            <a:ext cx="1057275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600" i="0" u="none">
                <a:solidFill>
                  <a:srgbClr val="64748B"/>
                </a:solidFill>
                <a:latin typeface="Plus Jakarta Sans"/>
              </a:rPr>
              <a:t>2024-01-15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48126" y="3890962"/>
            <a:ext cx="904875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600" i="0" u="none">
                <a:solidFill>
                  <a:srgbClr val="000000"/>
                </a:solidFill>
                <a:latin typeface="Plus Jakarta Sans"/>
              </a:rPr>
              <a:t>Iuran Kebersihan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48126" y="3986212"/>
            <a:ext cx="904875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600" i="0" u="none">
                <a:solidFill>
                  <a:srgbClr val="64748B"/>
                </a:solidFill>
                <a:latin typeface="Plus Jakarta Sans"/>
              </a:rPr>
              <a:t>2024-01-20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37401" y="2014537"/>
            <a:ext cx="511522" cy="85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525" i="0" u="none">
                <a:solidFill>
                  <a:srgbClr val="64748B"/>
                </a:solidFill>
                <a:latin typeface="Plus Jakarta Sans"/>
              </a:rPr>
              <a:t>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82223" y="2014537"/>
            <a:ext cx="511671" cy="85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525" i="0" u="none">
                <a:solidFill>
                  <a:srgbClr val="64748B"/>
                </a:solidFill>
                <a:latin typeface="Plus Jakarta Sans"/>
              </a:rPr>
              <a:t>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27194" y="2014537"/>
            <a:ext cx="511671" cy="85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525" i="0" u="none">
                <a:solidFill>
                  <a:srgbClr val="64748B"/>
                </a:solidFill>
                <a:latin typeface="Plus Jakarta Sans"/>
              </a:rPr>
              <a:t>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72166" y="2014537"/>
            <a:ext cx="511522" cy="85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525" i="0" u="none">
                <a:solidFill>
                  <a:srgbClr val="64748B"/>
                </a:solidFill>
                <a:latin typeface="Plus Jakarta Sans"/>
              </a:rPr>
              <a:t>W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16988" y="2014537"/>
            <a:ext cx="511671" cy="85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525" i="0" u="none">
                <a:solidFill>
                  <a:srgbClr val="64748B"/>
                </a:solidFill>
                <a:latin typeface="Plus Jakarta Sans"/>
              </a:rPr>
              <a:t>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61959" y="2014537"/>
            <a:ext cx="511671" cy="85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525" i="0" u="none">
                <a:solidFill>
                  <a:srgbClr val="64748B"/>
                </a:solidFill>
                <a:latin typeface="Plus Jakarta Sans"/>
              </a:rPr>
              <a:t>F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06930" y="2014537"/>
            <a:ext cx="511522" cy="85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525" i="0" u="none">
                <a:solidFill>
                  <a:srgbClr val="64748B"/>
                </a:solidFill>
                <a:latin typeface="Plus Jakarta Sans"/>
              </a:rPr>
              <a:t>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37401" y="2119312"/>
            <a:ext cx="511522" cy="85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525" i="0" u="none">
                <a:solidFill>
                  <a:srgbClr val="64748B"/>
                </a:solidFill>
                <a:latin typeface="Plus Jakarta Sans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2223" y="2119312"/>
            <a:ext cx="511671" cy="85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525" i="0" u="none">
                <a:solidFill>
                  <a:srgbClr val="64748B"/>
                </a:solidFill>
                <a:latin typeface="Plus Jakarta Sans"/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27194" y="2119312"/>
            <a:ext cx="511671" cy="85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525" i="0" u="none">
                <a:solidFill>
                  <a:srgbClr val="64748B"/>
                </a:solidFill>
                <a:latin typeface="Plus Jakarta Sans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72166" y="2119312"/>
            <a:ext cx="511522" cy="85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525" i="0" u="none">
                <a:solidFill>
                  <a:srgbClr val="64748B"/>
                </a:solidFill>
                <a:latin typeface="Plus Jakarta Sans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16988" y="2119312"/>
            <a:ext cx="511671" cy="85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525" i="0" u="none">
                <a:solidFill>
                  <a:srgbClr val="64748B"/>
                </a:solidFill>
                <a:latin typeface="Plus Jakarta Sans"/>
              </a:rPr>
              <a:t>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61959" y="2119312"/>
            <a:ext cx="511671" cy="85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525" i="0" u="none">
                <a:solidFill>
                  <a:srgbClr val="F8FAFC"/>
                </a:solidFill>
                <a:latin typeface="Plus Jakarta Sans"/>
              </a:rPr>
              <a:t>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06930" y="2119312"/>
            <a:ext cx="511522" cy="85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525" i="0" u="none">
                <a:solidFill>
                  <a:srgbClr val="64748B"/>
                </a:solidFill>
                <a:latin typeface="Plus Jakarta Sans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76575"/>
            <a:ext cx="5372100" cy="1123950"/>
          </a:xfrm>
          <a:prstGeom prst="roundRect">
            <a:avLst>
              <a:gd name="adj" fmla="val 101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3076575"/>
            <a:ext cx="5372100" cy="1123950"/>
          </a:xfrm>
          <a:prstGeom prst="roundRect">
            <a:avLst>
              <a:gd name="adj" fmla="val 101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343275"/>
            <a:ext cx="15240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3343275"/>
            <a:ext cx="17145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PENGELOLAAN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Dashboard Pengurus RT/RW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314700"/>
            <a:ext cx="6425803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Verifikasi Transaksi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590925"/>
            <a:ext cx="49911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Pengurus dapat menyetujui atau memeriksa rincian pembayaran iuran warga dengan cepat.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8425" y="3314700"/>
            <a:ext cx="5743575" cy="20002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Rekapitulasi Otomatis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8425" y="3590925"/>
            <a:ext cx="5743575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Laporan kas dapat diunduh langsung untuk keperluan rapat bulanan warga.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00362"/>
            <a:ext cx="3505200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00362"/>
            <a:ext cx="3505200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00362"/>
            <a:ext cx="3505200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138487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550" y="3138487"/>
            <a:ext cx="3429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400" y="3138487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KEMUDAHAN AKSES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3 Langkah Mudah Mulai Gunakan Wargaja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451" y="3557587"/>
            <a:ext cx="397549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00000"/>
                </a:solidFill>
                <a:latin typeface="Plus Jakarta Sans"/>
              </a:rPr>
              <a:t>1. Unduh Aplikasi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106" y="3833812"/>
            <a:ext cx="37861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Dapatkan Wargaja di Google Play Store atau App Store.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8251" y="3557587"/>
            <a:ext cx="397549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00000"/>
                </a:solidFill>
                <a:latin typeface="Plus Jakarta Sans"/>
              </a:rPr>
              <a:t>2. Registrasi Akun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2906" y="3833812"/>
            <a:ext cx="37861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Daftarkan data diri dan pilih lokasi RT/RW tempat tinggal Anda.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2051" y="3557587"/>
            <a:ext cx="397549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00000"/>
                </a:solidFill>
                <a:latin typeface="Plus Jakarta Sans"/>
              </a:rPr>
              <a:t>3. Verifikasi &amp; Gunakan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6706" y="3833812"/>
            <a:ext cx="37861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Setelah disetujui pengurus, nikmati seluruh layanan Wargaja.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46189"/>
            <a:ext cx="5391150" cy="811410"/>
          </a:xfrm>
          <a:prstGeom prst="roundRect">
            <a:avLst>
              <a:gd name="adj" fmla="val 140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2846189"/>
            <a:ext cx="5391150" cy="811410"/>
          </a:xfrm>
          <a:prstGeom prst="roundRect">
            <a:avLst>
              <a:gd name="adj" fmla="val 140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848100"/>
            <a:ext cx="5391150" cy="811410"/>
          </a:xfrm>
          <a:prstGeom prst="roundRect">
            <a:avLst>
              <a:gd name="adj" fmla="val 140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3848100"/>
            <a:ext cx="5391150" cy="811410"/>
          </a:xfrm>
          <a:prstGeom prst="roundRect">
            <a:avLst>
              <a:gd name="adj" fmla="val 140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9625" y="3046214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91275" y="3046214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9625" y="404812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91275" y="404812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LANGKAH KE DEPAN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Rencana Uji Coba Bertahap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" y="3046214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8400" y="3046214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" y="4048125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400" y="4048125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4925" y="3046214"/>
            <a:ext cx="476309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Tahap 1: Peragaan Awal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4925" y="3284339"/>
            <a:ext cx="4536281" cy="1732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Peragaan kepada warga dan mengumpulkan masukan pertama.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6575" y="3046214"/>
            <a:ext cx="4500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Tahap 2: Uji Coba Terbatas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86575" y="3284339"/>
            <a:ext cx="4286250" cy="1732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Uji coba terbatas dengan beberapa warga dan pengurus 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4925" y="4048125"/>
            <a:ext cx="462557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Tahap 3: Perbaikan Sistem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4925" y="4286250"/>
            <a:ext cx="4405312" cy="1732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Perbaikan tampilan dan alur aplikasi sesuai masukan lapangan.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6575" y="4048125"/>
            <a:ext cx="491311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Tahap 4: Perluasan Penggunaan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6575" y="4286250"/>
            <a:ext cx="4679156" cy="1732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Perluasan penuh setelah mendapat persetujuan pengurus RT/RW.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643437" y="3914775"/>
            <a:ext cx="2905125" cy="409575"/>
          </a:xfrm>
          <a:prstGeom prst="roundRect">
            <a:avLst>
              <a:gd name="adj" fmla="val 18604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95812" y="2533650"/>
            <a:ext cx="3000375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FFFFFF"/>
                </a:solidFill>
                <a:latin typeface="Plus Jakarta Sans"/>
              </a:rP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21781" y="3171825"/>
            <a:ext cx="6548437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94A3B8"/>
                </a:solidFill>
                <a:latin typeface="Plus Jakarta Sans"/>
              </a:rPr>
              <a:t>Mari Bersama Mewujudkan Lingkungan RT/RW yang Transparan, Modern, dan Terintegrasi.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46996" y="4029075"/>
            <a:ext cx="3098006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FFFFF"/>
                </a:solidFill>
                <a:latin typeface="Plus Jakarta Sans"/>
              </a:rPr>
              <a:t>Sesi Tanya Jawab &amp; Diskusi Warga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