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440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tenang. Sebutkan tujuan pertemuan: memperkenalkan satu aplikasi supaya urusan lingkungan tidak lagi tersebar di banyak tempat. Nyatakan sejak awal bahwa aplikasi masih dalam tahap uji coba dan masukan warga sangat diharapkan. Jangan menjanjikan fitur yang belum ada. Ganti [tanggal presentasi] sebelum dipakai.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Ucapkan definisinya perlahan lalu berhenti sebentar. Tegaskan Wargaja bukan pengganti grup WhatsApp untuk mengobrol, melainkan tempat menaruh hal-hal yang perlu tercatat dan dicari kembali. Hindari kata server, basis data, atau cloud.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 dengan jelas bahwa ini tantangan yang umum muncul di banyak lingkungan, bukan hasil pemeriksaan lingkungan kita sendiri. Kalau warga langsung menyebut contoh yang lebih nyata, terima dan pakai contoh mereka. Jangan menakut-nakuti dan jangan menyalahkan pengurus sebelumnya.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yang disebut di sini sudah berjalan di aplikasi. Peran yang paling siap: bendahara untuk verifikasi iuran, sekretaris untuk data kependudukan, pengurus RT untuk kegiatan dan pasar warga. Jujurkan bahwa menu pengurus lain masih dikembangkan. Kalau ditanya soal lapor masalah dan kirim saran, jawab bahwa tampilannya ada tetapi belum tersambung.
VISUAL TO ADD: Dua tangkapan layar berdampingan: (1) menu Iuran warga, (2) tampilan verifikasi di sisi bendahara. Ambil dari aplikasi asli setelah rebranding ke Wargaja, tanpa nama atau data warga asli.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lebih dulu bahwa ini gambaran tampilan, bukan tangkapan layar asli, supaya tidak ada warga yang mengira angka di dalamnya nyata. Semua nama menu diambil apa adanya dari aplikasi. Gambar ini dibuat dari bentuk dan tulisan yang bisa diedit, jadi pengurus dapat memperbaruinya sendiri.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bahwa tidak ada potongan otomatis dan tidak ada uang yang berpindah tanpa persetujuan pengurus. Aplikasi hanya mencatat dan membantu memeriksa. Kalau ditanya soal keamanan uang: uang tetap masuk ke rekening kas seperti biasa, aplikasi hanya mencatat buktinya.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keenam jenis surat satu per satu karena warga sering datang justru untuk salah satu dari daftar ini. Jelaskan bahwa lampiran pendukung, misalnya foto KTP atau KK, diunggah dari ponsel. Jujurkan bahwa pengelolaan pengajuan di sisi pengurus masih disempurnakan, dan surat belum bisa diunduh langsung dari aplikasi.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pernah menyebutkan kata sandi akun contoh di depan warga. Cara memasang aplikasi masih perlu diputuskan pengurus, jadi sebutkan bahwa bagian itu akan diumumkan setelah kesepakatan. Sebutkan bahwa aplikasi bisa dikunci memakai sidik jari atau wajah di ponsel masing-masing.
VISUAL TO ADD: Dua tangkapan layar berdampingan sebagai panduan: (1) halaman masuk dengan pilihan email dan akun Google, (2) halaman beranda warga setelah masuk. Ambil dari aplikasi asli setelah rebranding ke Wargaja; jangan tampilkan surel, nomor telepon, atau foto pribadi warga.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yang paling menentukan kepercayaan. Jangan sekali-kali mengklaim enkripsi, sertifikasi, atau cadangan data karena belum bisa dibuktikan. Katakan apa adanya: data diisi warga, akses dipisah per peran, dan aturan rincinya masih akan dibahas. Menu pemeriksaan data di sisi pengurus juga belum selesai.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kedua kolom dengan jujur dan tanpa membela diri. Kolom kanan sengaja dibiarkan terlihat supaya warga tahu apa yang belum selesai. Jangan menjanjikan semua pekerjaan manual akan hilang; katakan pekerjaan menjadi lebih tertata, bukan hilang.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dua kali bahwa ini usulan, bukan jadwal yang sudah disetujui. Tutup dengan terima kasih yang singkat, lalu buka sesi tanya jawab. Ajak warga menuliskan masukan, termasuk kritik. Ingatkan narahubung dan tanggal masih perlu diisi pengurus sebelum presentasi dipakai. Lima pertanyaan yang sering muncul sudah disiapkan di catatan pembicara.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s-role:composed">
    <p:bg>
      <p:bgPr>
        <a:solidFill>
          <a:srgbClr val="232323"/>
        </a:solidFill>
        <a:effectLst/>
      </p:bgPr>
    </p:bg>
    <p:spTree>
      <p:nvGrpSpPr>
        <p:cNvPr id="1" name=""/>
        <p:cNvGrpSpPr/>
        <p:nvPr/>
      </p:nvGrpSpPr>
      <p:grpSpPr>
        <a:xfrm>
          <a:off x="0" y="0"/>
          <a:ext cx="0" cy="0"/>
          <a:chOff x="0" y="0"/>
          <a:chExt cx="0" cy="0"/>
        </a:xfrm>
      </p:grpSpPr>
      <p:sp>
        <p:nvSpPr>
          <p:cNvPr id="2" name="deco-accent-panel"/>
          <p:cNvSpPr/>
          <p:nvPr/>
        </p:nvSpPr>
        <p:spPr>
          <a:xfrm>
            <a:off x="9262872" y="0"/>
            <a:ext cx="2928823" cy="6858000"/>
          </a:xfrm>
          <a:prstGeom prst="roundRect">
            <a:avLst>
              <a:gd name="adj" fmla="val 3122"/>
            </a:avLst>
          </a:prstGeom>
          <a:solidFill>
            <a:srgbClr val="E1621B"/>
          </a:solidFill>
          <a:ln w="12700">
            <a:solidFill>
              <a:srgbClr val="E1621B"/>
            </a:solidFill>
            <a:prstDash val="solid"/>
          </a:ln>
        </p:spPr>
      </p:sp>
      <p:sp>
        <p:nvSpPr>
          <p:cNvPr id="4" name="slides-lead:Title"/>
          <p:cNvSpPr/>
          <p:nvPr/>
        </p:nvSpPr>
        <p:spPr>
          <a:xfrm>
            <a:off x="609905" y="2011680"/>
            <a:ext cx="8412480" cy="1371600"/>
          </a:xfrm>
          <a:prstGeom prst="rect">
            <a:avLst/>
          </a:prstGeom>
          <a:noFill/>
          <a:ln/>
        </p:spPr>
        <p:txBody>
          <a:bodyPr wrap="square" lIns="0" tIns="0" rIns="0" bIns="0" rtlCol="0" anchor="t"/>
          <a:lstStyle/>
          <a:p>
            <a:pPr marL="0" indent="0">
              <a:buNone/>
            </a:pPr>
            <a:endParaRPr lang="en-US" sz="7200" dirty="0"/>
          </a:p>
        </p:txBody>
      </p:sp>
      <p:sp>
        <p:nvSpPr>
          <p:cNvPr id="5" name="slides-field:Tagline"/>
          <p:cNvSpPr/>
          <p:nvPr/>
        </p:nvSpPr>
        <p:spPr>
          <a:xfrm>
            <a:off x="609905" y="3520440"/>
            <a:ext cx="8412480" cy="566928"/>
          </a:xfrm>
          <a:prstGeom prst="rect">
            <a:avLst/>
          </a:prstGeom>
          <a:noFill/>
          <a:ln/>
        </p:spPr>
        <p:txBody>
          <a:bodyPr wrap="square" lIns="0" tIns="0" rIns="0" bIns="0" rtlCol="0" anchor="t"/>
          <a:lstStyle/>
          <a:p>
            <a:pPr marL="0" indent="0">
              <a:buNone/>
            </a:pPr>
            <a:endParaRPr lang="en-US" sz="3200" dirty="0"/>
          </a:p>
        </p:txBody>
      </p:sp>
      <p:sp>
        <p:nvSpPr>
          <p:cNvPr id="6" name="deco-cover-rule"/>
          <p:cNvSpPr/>
          <p:nvPr/>
        </p:nvSpPr>
        <p:spPr>
          <a:xfrm>
            <a:off x="609905" y="4279392"/>
            <a:ext cx="3657600" cy="0"/>
          </a:xfrm>
          <a:prstGeom prst="line">
            <a:avLst/>
          </a:prstGeom>
          <a:noFill/>
          <a:ln w="25400">
            <a:solidFill>
              <a:srgbClr val="E1621B"/>
            </a:solidFill>
            <a:prstDash val="solid"/>
          </a:ln>
        </p:spPr>
      </p:sp>
      <p:sp>
        <p:nvSpPr>
          <p:cNvPr id="7" name="slides-field:Subtitle"/>
          <p:cNvSpPr/>
          <p:nvPr/>
        </p:nvSpPr>
        <p:spPr>
          <a:xfrm>
            <a:off x="609905" y="4462272"/>
            <a:ext cx="8229600" cy="411480"/>
          </a:xfrm>
          <a:prstGeom prst="rect">
            <a:avLst/>
          </a:prstGeom>
          <a:noFill/>
          <a:ln/>
        </p:spPr>
        <p:txBody>
          <a:bodyPr wrap="square" lIns="0" tIns="0" rIns="0" bIns="0" rtlCol="0" anchor="t"/>
          <a:lstStyle/>
          <a:p>
            <a:pPr marL="0" indent="0">
              <a:buNone/>
            </a:pPr>
            <a:r>
              <a:rPr lang="en-US" sz="2000" dirty="0">
                <a:solidFill>
                  <a:srgbClr val="FAF6EF"/>
                </a:solidFill>
                <a:latin typeface="Segoe UI" pitchFamily="34" charset="0"/>
                <a:ea typeface="Segoe UI" pitchFamily="34" charset="-122"/>
                <a:cs typeface="Segoe UI" pitchFamily="34" charset="-120"/>
              </a:rPr>
              <a:t>Presentasi sosialisasi aplikasi Wargaja untuk warga</a:t>
            </a:r>
            <a:endParaRPr lang="en-US" sz="2000" dirty="0"/>
          </a:p>
        </p:txBody>
      </p:sp>
      <p:sp>
        <p:nvSpPr>
          <p:cNvPr id="8" name="slides-field:Audience"/>
          <p:cNvSpPr/>
          <p:nvPr/>
        </p:nvSpPr>
        <p:spPr>
          <a:xfrm>
            <a:off x="609905" y="5029200"/>
            <a:ext cx="8229600" cy="365760"/>
          </a:xfrm>
          <a:prstGeom prst="rect">
            <a:avLst/>
          </a:prstGeom>
          <a:noFill/>
          <a:ln/>
        </p:spPr>
        <p:txBody>
          <a:bodyPr wrap="square" lIns="0" tIns="0" rIns="0" bIns="0" rtlCol="0" anchor="t"/>
          <a:lstStyle/>
          <a:p>
            <a:pPr marL="0" indent="0">
              <a:buNone/>
            </a:pPr>
            <a:r>
              <a:rPr lang="en-US" sz="1600" dirty="0">
                <a:solidFill>
                  <a:srgbClr val="FAF6EF"/>
                </a:solidFill>
                <a:latin typeface="Segoe UI" pitchFamily="34" charset="0"/>
                <a:ea typeface="Segoe UI" pitchFamily="34" charset="-122"/>
                <a:cs typeface="Segoe UI" pitchFamily="34" charset="-120"/>
              </a:rPr>
              <a:t>Untuk warga, pengurus RT/RW, dan pengelola lingkungan</a:t>
            </a:r>
            <a:endParaRPr lang="en-US" sz="1600" dirty="0"/>
          </a:p>
        </p:txBody>
      </p:sp>
      <p:sp>
        <p:nvSpPr>
          <p:cNvPr id="9" name="slides-field:Date"/>
          <p:cNvSpPr/>
          <p:nvPr/>
        </p:nvSpPr>
        <p:spPr>
          <a:xfrm>
            <a:off x="609905" y="5532120"/>
            <a:ext cx="8229600" cy="365760"/>
          </a:xfrm>
          <a:prstGeom prst="rect">
            <a:avLst/>
          </a:prstGeom>
          <a:noFill/>
          <a:ln/>
        </p:spPr>
        <p:txBody>
          <a:bodyPr wrap="square" lIns="0" tIns="0" rIns="0" bIns="0" rtlCol="0" anchor="t"/>
          <a:lstStyle/>
          <a:p>
            <a:pPr marL="0" indent="0">
              <a:buNone/>
            </a:pPr>
            <a:r>
              <a:rPr lang="en-US" sz="1600" dirty="0">
                <a:solidFill>
                  <a:srgbClr val="FAF6EF"/>
                </a:solidFill>
                <a:latin typeface="Segoe UI" pitchFamily="34" charset="0"/>
                <a:ea typeface="Segoe UI" pitchFamily="34" charset="-122"/>
                <a:cs typeface="Segoe UI" pitchFamily="34" charset="-120"/>
              </a:rPr>
              <a:t>[tanggal presentasi]</a:t>
            </a:r>
            <a:endParaRPr lang="en-US" sz="1600" dirty="0"/>
          </a:p>
        </p:txBody>
      </p:sp>
      <p:pic>
        <p:nvPicPr>
          <p:cNvPr id="11" name="Picture 10">
            <a:extLst>
              <a:ext uri="{FF2B5EF4-FFF2-40B4-BE49-F238E27FC236}">
                <a16:creationId xmlns:a16="http://schemas.microsoft.com/office/drawing/2014/main" id="{8E42083E-BEB5-8B8B-3D41-4799CF6A764D}"/>
              </a:ext>
            </a:extLst>
          </p:cNvPr>
          <p:cNvPicPr>
            <a:picLocks noChangeAspect="1"/>
          </p:cNvPicPr>
          <p:nvPr/>
        </p:nvPicPr>
        <p:blipFill>
          <a:blip r:embed="rId3"/>
          <a:stretch>
            <a:fillRect/>
          </a:stretch>
        </p:blipFill>
        <p:spPr>
          <a:xfrm>
            <a:off x="369418" y="1289474"/>
            <a:ext cx="8630892" cy="1877455"/>
          </a:xfrm>
          <a:prstGeom prst="rect">
            <a:avLst/>
          </a:prstGeom>
        </p:spPr>
      </p:pic>
      <p:sp>
        <p:nvSpPr>
          <p:cNvPr id="12" name="Rectangle 11">
            <a:extLst>
              <a:ext uri="{FF2B5EF4-FFF2-40B4-BE49-F238E27FC236}">
                <a16:creationId xmlns:a16="http://schemas.microsoft.com/office/drawing/2014/main" id="{5DC1B190-26C0-FF65-B615-C6FFAE499C5F}"/>
              </a:ext>
            </a:extLst>
          </p:cNvPr>
          <p:cNvSpPr/>
          <p:nvPr/>
        </p:nvSpPr>
        <p:spPr>
          <a:xfrm>
            <a:off x="2160104" y="2504661"/>
            <a:ext cx="1921566" cy="3313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2</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Apa itu Wargaja</a:t>
            </a:r>
            <a:endParaRPr lang="en-US" sz="3200" dirty="0"/>
          </a:p>
        </p:txBody>
      </p:sp>
      <p:sp>
        <p:nvSpPr>
          <p:cNvPr id="4" name="deco-definition"/>
          <p:cNvSpPr/>
          <p:nvPr/>
        </p:nvSpPr>
        <p:spPr>
          <a:xfrm>
            <a:off x="609905" y="1536192"/>
            <a:ext cx="10971886" cy="960120"/>
          </a:xfrm>
          <a:prstGeom prst="roundRect">
            <a:avLst>
              <a:gd name="adj" fmla="val 9524"/>
            </a:avLst>
          </a:prstGeom>
          <a:solidFill>
            <a:srgbClr val="E1621B">
              <a:alpha val="8000"/>
            </a:srgbClr>
          </a:solidFill>
          <a:ln w="12700">
            <a:solidFill>
              <a:srgbClr val="232323">
                <a:alpha val="0"/>
              </a:srgbClr>
            </a:solidFill>
            <a:prstDash val="solid"/>
          </a:ln>
        </p:spPr>
      </p:sp>
      <p:sp>
        <p:nvSpPr>
          <p:cNvPr id="5" name="slides-field:Definition"/>
          <p:cNvSpPr/>
          <p:nvPr/>
        </p:nvSpPr>
        <p:spPr>
          <a:xfrm>
            <a:off x="975665" y="1755648"/>
            <a:ext cx="10240366" cy="54864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Wargaja adalah satu tempat untuk semua urusan lingkungan warga.</a:t>
            </a:r>
            <a:endParaRPr lang="en-US" sz="2000" dirty="0"/>
          </a:p>
        </p:txBody>
      </p:sp>
      <p:sp>
        <p:nvSpPr>
          <p:cNvPr id="6" name="deco-pillar-1"/>
          <p:cNvSpPr/>
          <p:nvPr/>
        </p:nvSpPr>
        <p:spPr>
          <a:xfrm>
            <a:off x="609905" y="2697480"/>
            <a:ext cx="3291535" cy="2834640"/>
          </a:xfrm>
          <a:prstGeom prst="roundRect">
            <a:avLst>
              <a:gd name="adj" fmla="val 3226"/>
            </a:avLst>
          </a:prstGeom>
          <a:solidFill>
            <a:srgbClr val="E1621B">
              <a:alpha val="8000"/>
            </a:srgbClr>
          </a:solidFill>
          <a:ln w="12700">
            <a:solidFill>
              <a:srgbClr val="232323">
                <a:alpha val="0"/>
              </a:srgbClr>
            </a:solidFill>
            <a:prstDash val="solid"/>
          </a:ln>
        </p:spPr>
      </p:sp>
      <p:sp>
        <p:nvSpPr>
          <p:cNvPr id="7" name="slides-field:Pillar1Label"/>
          <p:cNvSpPr/>
          <p:nvPr/>
        </p:nvSpPr>
        <p:spPr>
          <a:xfrm>
            <a:off x="884225" y="2990088"/>
            <a:ext cx="2742895" cy="82296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Satu tempat untuk informasi</a:t>
            </a:r>
            <a:endParaRPr lang="en-US" sz="2000" dirty="0"/>
          </a:p>
        </p:txBody>
      </p:sp>
      <p:sp>
        <p:nvSpPr>
          <p:cNvPr id="8" name="slides-field:Pillar1Body"/>
          <p:cNvSpPr/>
          <p:nvPr/>
        </p:nvSpPr>
        <p:spPr>
          <a:xfrm>
            <a:off x="884225" y="3931920"/>
            <a:ext cx="2742895" cy="137160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Pengumuman, kegiatan, dan jadwal terkumpul rapi.</a:t>
            </a:r>
            <a:endParaRPr lang="en-US" sz="1600" dirty="0"/>
          </a:p>
        </p:txBody>
      </p:sp>
      <p:sp>
        <p:nvSpPr>
          <p:cNvPr id="9" name="deco-pillar-2"/>
          <p:cNvSpPr/>
          <p:nvPr/>
        </p:nvSpPr>
        <p:spPr>
          <a:xfrm>
            <a:off x="4450080" y="2697480"/>
            <a:ext cx="3291535" cy="2834640"/>
          </a:xfrm>
          <a:prstGeom prst="roundRect">
            <a:avLst>
              <a:gd name="adj" fmla="val 3226"/>
            </a:avLst>
          </a:prstGeom>
          <a:solidFill>
            <a:srgbClr val="232323">
              <a:alpha val="6000"/>
            </a:srgbClr>
          </a:solidFill>
          <a:ln w="12700">
            <a:solidFill>
              <a:srgbClr val="232323">
                <a:alpha val="0"/>
              </a:srgbClr>
            </a:solidFill>
            <a:prstDash val="solid"/>
          </a:ln>
        </p:spPr>
      </p:sp>
      <p:sp>
        <p:nvSpPr>
          <p:cNvPr id="10" name="slides-field:Pillar2Label"/>
          <p:cNvSpPr/>
          <p:nvPr/>
        </p:nvSpPr>
        <p:spPr>
          <a:xfrm>
            <a:off x="4724400" y="2990088"/>
            <a:ext cx="2742895" cy="82296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Satu jalur untuk pengajuan</a:t>
            </a:r>
            <a:endParaRPr lang="en-US" sz="2000" dirty="0"/>
          </a:p>
        </p:txBody>
      </p:sp>
      <p:sp>
        <p:nvSpPr>
          <p:cNvPr id="11" name="slides-field:Pillar2Body"/>
          <p:cNvSpPr/>
          <p:nvPr/>
        </p:nvSpPr>
        <p:spPr>
          <a:xfrm>
            <a:off x="4724400" y="3931920"/>
            <a:ext cx="2742895" cy="137160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Ajukan surat dan dokumen dari ponsel.</a:t>
            </a:r>
            <a:endParaRPr lang="en-US" sz="1600" dirty="0"/>
          </a:p>
        </p:txBody>
      </p:sp>
      <p:sp>
        <p:nvSpPr>
          <p:cNvPr id="12" name="deco-pillar-3"/>
          <p:cNvSpPr/>
          <p:nvPr/>
        </p:nvSpPr>
        <p:spPr>
          <a:xfrm>
            <a:off x="8290255" y="2697480"/>
            <a:ext cx="3291535" cy="2834640"/>
          </a:xfrm>
          <a:prstGeom prst="roundRect">
            <a:avLst>
              <a:gd name="adj" fmla="val 3226"/>
            </a:avLst>
          </a:prstGeom>
          <a:solidFill>
            <a:srgbClr val="232323">
              <a:alpha val="6000"/>
            </a:srgbClr>
          </a:solidFill>
          <a:ln w="12700">
            <a:solidFill>
              <a:srgbClr val="232323">
                <a:alpha val="0"/>
              </a:srgbClr>
            </a:solidFill>
            <a:prstDash val="solid"/>
          </a:ln>
        </p:spPr>
      </p:sp>
      <p:sp>
        <p:nvSpPr>
          <p:cNvPr id="13" name="slides-field:Pillar3Label"/>
          <p:cNvSpPr/>
          <p:nvPr/>
        </p:nvSpPr>
        <p:spPr>
          <a:xfrm>
            <a:off x="8564575" y="2990088"/>
            <a:ext cx="2742895" cy="82296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Satu catatan untuk iuran</a:t>
            </a:r>
            <a:endParaRPr lang="en-US" sz="2000" dirty="0"/>
          </a:p>
        </p:txBody>
      </p:sp>
      <p:sp>
        <p:nvSpPr>
          <p:cNvPr id="14" name="slides-field:Pillar3Body"/>
          <p:cNvSpPr/>
          <p:nvPr/>
        </p:nvSpPr>
        <p:spPr>
          <a:xfrm>
            <a:off x="8564575" y="3931920"/>
            <a:ext cx="2742895" cy="137160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Riwayat pembayaran tersimpan dan diperiksa pengurus.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3</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Kenapa kita perlu satu tempat</a:t>
            </a:r>
            <a:endParaRPr lang="en-US" sz="3200" dirty="0"/>
          </a:p>
        </p:txBody>
      </p:sp>
      <p:sp>
        <p:nvSpPr>
          <p:cNvPr id="4" name="deco-row-1"/>
          <p:cNvSpPr/>
          <p:nvPr/>
        </p:nvSpPr>
        <p:spPr>
          <a:xfrm>
            <a:off x="609905" y="1536192"/>
            <a:ext cx="10971886" cy="729691"/>
          </a:xfrm>
          <a:prstGeom prst="roundRect">
            <a:avLst>
              <a:gd name="adj" fmla="val 12531"/>
            </a:avLst>
          </a:prstGeom>
          <a:solidFill>
            <a:srgbClr val="232323">
              <a:alpha val="6000"/>
            </a:srgbClr>
          </a:solidFill>
          <a:ln w="12700">
            <a:solidFill>
              <a:srgbClr val="232323">
                <a:alpha val="0"/>
              </a:srgbClr>
            </a:solidFill>
            <a:prstDash val="solid"/>
          </a:ln>
        </p:spPr>
      </p:sp>
      <p:sp>
        <p:nvSpPr>
          <p:cNvPr id="5" name="deco-row-mark-1"/>
          <p:cNvSpPr/>
          <p:nvPr/>
        </p:nvSpPr>
        <p:spPr>
          <a:xfrm>
            <a:off x="847649" y="1745590"/>
            <a:ext cx="310896" cy="310896"/>
          </a:xfrm>
          <a:prstGeom prst="ellipse">
            <a:avLst/>
          </a:prstGeom>
          <a:solidFill>
            <a:srgbClr val="E1621B"/>
          </a:solidFill>
          <a:ln w="12700">
            <a:solidFill>
              <a:srgbClr val="E1621B"/>
            </a:solidFill>
            <a:prstDash val="solid"/>
          </a:ln>
        </p:spPr>
      </p:sp>
      <p:sp>
        <p:nvSpPr>
          <p:cNvPr id="6" name="slides-field:Item1"/>
          <p:cNvSpPr/>
          <p:nvPr/>
        </p:nvSpPr>
        <p:spPr>
          <a:xfrm>
            <a:off x="1396289" y="1627632"/>
            <a:ext cx="9947758" cy="546811"/>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Informasi penting tenggelam di grup WhatsApp</a:t>
            </a:r>
            <a:endParaRPr lang="en-US" sz="2000" dirty="0"/>
          </a:p>
        </p:txBody>
      </p:sp>
      <p:sp>
        <p:nvSpPr>
          <p:cNvPr id="7" name="deco-row-2"/>
          <p:cNvSpPr/>
          <p:nvPr/>
        </p:nvSpPr>
        <p:spPr>
          <a:xfrm>
            <a:off x="609905" y="2393899"/>
            <a:ext cx="10971886" cy="729691"/>
          </a:xfrm>
          <a:prstGeom prst="roundRect">
            <a:avLst>
              <a:gd name="adj" fmla="val 12531"/>
            </a:avLst>
          </a:prstGeom>
          <a:solidFill>
            <a:srgbClr val="232323">
              <a:alpha val="6000"/>
            </a:srgbClr>
          </a:solidFill>
          <a:ln w="12700">
            <a:solidFill>
              <a:srgbClr val="232323">
                <a:alpha val="0"/>
              </a:srgbClr>
            </a:solidFill>
            <a:prstDash val="solid"/>
          </a:ln>
        </p:spPr>
      </p:sp>
      <p:sp>
        <p:nvSpPr>
          <p:cNvPr id="8" name="deco-row-mark-2"/>
          <p:cNvSpPr/>
          <p:nvPr/>
        </p:nvSpPr>
        <p:spPr>
          <a:xfrm>
            <a:off x="847649" y="2603297"/>
            <a:ext cx="310896" cy="310896"/>
          </a:xfrm>
          <a:prstGeom prst="ellipse">
            <a:avLst/>
          </a:prstGeom>
          <a:solidFill>
            <a:srgbClr val="E1621B"/>
          </a:solidFill>
          <a:ln w="12700">
            <a:solidFill>
              <a:srgbClr val="E1621B"/>
            </a:solidFill>
            <a:prstDash val="solid"/>
          </a:ln>
        </p:spPr>
      </p:sp>
      <p:sp>
        <p:nvSpPr>
          <p:cNvPr id="9" name="slides-field:Item2"/>
          <p:cNvSpPr/>
          <p:nvPr/>
        </p:nvSpPr>
        <p:spPr>
          <a:xfrm>
            <a:off x="1396289" y="2485339"/>
            <a:ext cx="9947758" cy="546811"/>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Pengumuman lama sulit dicari kembali</a:t>
            </a:r>
            <a:endParaRPr lang="en-US" sz="2000" dirty="0"/>
          </a:p>
        </p:txBody>
      </p:sp>
      <p:sp>
        <p:nvSpPr>
          <p:cNvPr id="10" name="deco-row-3"/>
          <p:cNvSpPr/>
          <p:nvPr/>
        </p:nvSpPr>
        <p:spPr>
          <a:xfrm>
            <a:off x="609905" y="3251606"/>
            <a:ext cx="10971886" cy="729691"/>
          </a:xfrm>
          <a:prstGeom prst="roundRect">
            <a:avLst>
              <a:gd name="adj" fmla="val 12531"/>
            </a:avLst>
          </a:prstGeom>
          <a:solidFill>
            <a:srgbClr val="232323">
              <a:alpha val="6000"/>
            </a:srgbClr>
          </a:solidFill>
          <a:ln w="12700">
            <a:solidFill>
              <a:srgbClr val="232323">
                <a:alpha val="0"/>
              </a:srgbClr>
            </a:solidFill>
            <a:prstDash val="solid"/>
          </a:ln>
        </p:spPr>
      </p:sp>
      <p:sp>
        <p:nvSpPr>
          <p:cNvPr id="11" name="deco-row-mark-3"/>
          <p:cNvSpPr/>
          <p:nvPr/>
        </p:nvSpPr>
        <p:spPr>
          <a:xfrm>
            <a:off x="847649" y="3461004"/>
            <a:ext cx="310896" cy="310896"/>
          </a:xfrm>
          <a:prstGeom prst="ellipse">
            <a:avLst/>
          </a:prstGeom>
          <a:solidFill>
            <a:srgbClr val="E1621B"/>
          </a:solidFill>
          <a:ln w="12700">
            <a:solidFill>
              <a:srgbClr val="E1621B"/>
            </a:solidFill>
            <a:prstDash val="solid"/>
          </a:ln>
        </p:spPr>
      </p:sp>
      <p:sp>
        <p:nvSpPr>
          <p:cNvPr id="12" name="slides-field:Item3"/>
          <p:cNvSpPr/>
          <p:nvPr/>
        </p:nvSpPr>
        <p:spPr>
          <a:xfrm>
            <a:off x="1396289" y="3343046"/>
            <a:ext cx="9947758" cy="546811"/>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Catatan administrasi masih manual</a:t>
            </a:r>
            <a:endParaRPr lang="en-US" sz="2000" dirty="0"/>
          </a:p>
        </p:txBody>
      </p:sp>
      <p:sp>
        <p:nvSpPr>
          <p:cNvPr id="13" name="deco-row-4"/>
          <p:cNvSpPr/>
          <p:nvPr/>
        </p:nvSpPr>
        <p:spPr>
          <a:xfrm>
            <a:off x="609905" y="4109314"/>
            <a:ext cx="10971886" cy="729691"/>
          </a:xfrm>
          <a:prstGeom prst="roundRect">
            <a:avLst>
              <a:gd name="adj" fmla="val 12531"/>
            </a:avLst>
          </a:prstGeom>
          <a:solidFill>
            <a:srgbClr val="232323">
              <a:alpha val="6000"/>
            </a:srgbClr>
          </a:solidFill>
          <a:ln w="12700">
            <a:solidFill>
              <a:srgbClr val="232323">
                <a:alpha val="0"/>
              </a:srgbClr>
            </a:solidFill>
            <a:prstDash val="solid"/>
          </a:ln>
        </p:spPr>
      </p:sp>
      <p:sp>
        <p:nvSpPr>
          <p:cNvPr id="14" name="deco-row-mark-4"/>
          <p:cNvSpPr/>
          <p:nvPr/>
        </p:nvSpPr>
        <p:spPr>
          <a:xfrm>
            <a:off x="847649" y="4318711"/>
            <a:ext cx="310896" cy="310896"/>
          </a:xfrm>
          <a:prstGeom prst="ellipse">
            <a:avLst/>
          </a:prstGeom>
          <a:solidFill>
            <a:srgbClr val="E1621B"/>
          </a:solidFill>
          <a:ln w="12700">
            <a:solidFill>
              <a:srgbClr val="E1621B"/>
            </a:solidFill>
            <a:prstDash val="solid"/>
          </a:ln>
        </p:spPr>
      </p:sp>
      <p:sp>
        <p:nvSpPr>
          <p:cNvPr id="15" name="slides-field:Item4"/>
          <p:cNvSpPr/>
          <p:nvPr/>
        </p:nvSpPr>
        <p:spPr>
          <a:xfrm>
            <a:off x="1396289" y="4200754"/>
            <a:ext cx="9947758" cy="546811"/>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Warga bingung mengajukan surat ke mana</a:t>
            </a:r>
            <a:endParaRPr lang="en-US" sz="2000" dirty="0"/>
          </a:p>
        </p:txBody>
      </p:sp>
      <p:sp>
        <p:nvSpPr>
          <p:cNvPr id="16" name="deco-row-5"/>
          <p:cNvSpPr/>
          <p:nvPr/>
        </p:nvSpPr>
        <p:spPr>
          <a:xfrm>
            <a:off x="609905" y="4967021"/>
            <a:ext cx="10971886" cy="729691"/>
          </a:xfrm>
          <a:prstGeom prst="roundRect">
            <a:avLst>
              <a:gd name="adj" fmla="val 12531"/>
            </a:avLst>
          </a:prstGeom>
          <a:solidFill>
            <a:srgbClr val="232323">
              <a:alpha val="6000"/>
            </a:srgbClr>
          </a:solidFill>
          <a:ln w="12700">
            <a:solidFill>
              <a:srgbClr val="232323">
                <a:alpha val="0"/>
              </a:srgbClr>
            </a:solidFill>
            <a:prstDash val="solid"/>
          </a:ln>
        </p:spPr>
      </p:sp>
      <p:sp>
        <p:nvSpPr>
          <p:cNvPr id="17" name="deco-row-mark-5"/>
          <p:cNvSpPr/>
          <p:nvPr/>
        </p:nvSpPr>
        <p:spPr>
          <a:xfrm>
            <a:off x="847649" y="5176418"/>
            <a:ext cx="310896" cy="310896"/>
          </a:xfrm>
          <a:prstGeom prst="ellipse">
            <a:avLst/>
          </a:prstGeom>
          <a:solidFill>
            <a:srgbClr val="E1621B"/>
          </a:solidFill>
          <a:ln w="12700">
            <a:solidFill>
              <a:srgbClr val="E1621B"/>
            </a:solidFill>
            <a:prstDash val="solid"/>
          </a:ln>
        </p:spPr>
      </p:sp>
      <p:sp>
        <p:nvSpPr>
          <p:cNvPr id="18" name="slides-field:Item5"/>
          <p:cNvSpPr/>
          <p:nvPr/>
        </p:nvSpPr>
        <p:spPr>
          <a:xfrm>
            <a:off x="1396289" y="5058461"/>
            <a:ext cx="9947758" cy="546811"/>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Iuran dan pengeluaran sulit dipantau bersama</a:t>
            </a:r>
            <a:endParaRPr lang="en-US" sz="2000" dirty="0"/>
          </a:p>
        </p:txBody>
      </p:sp>
      <p:sp>
        <p:nvSpPr>
          <p:cNvPr id="19"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Tantangan umum di banyak lingkungan, bukan kesimpulan tentang lingkungan kita.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4</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Yang bisa dilakukan warga dan pengurus</a:t>
            </a:r>
            <a:endParaRPr lang="en-US" sz="3200" dirty="0"/>
          </a:p>
        </p:txBody>
      </p:sp>
      <p:sp>
        <p:nvSpPr>
          <p:cNvPr id="4" name="deco-col-Left"/>
          <p:cNvSpPr/>
          <p:nvPr/>
        </p:nvSpPr>
        <p:spPr>
          <a:xfrm>
            <a:off x="609905" y="1536192"/>
            <a:ext cx="5211623" cy="4206240"/>
          </a:xfrm>
          <a:prstGeom prst="roundRect">
            <a:avLst>
              <a:gd name="adj" fmla="val 2174"/>
            </a:avLst>
          </a:prstGeom>
          <a:solidFill>
            <a:srgbClr val="E1621B">
              <a:alpha val="8000"/>
            </a:srgbClr>
          </a:solidFill>
          <a:ln w="12700">
            <a:solidFill>
              <a:srgbClr val="232323">
                <a:alpha val="0"/>
              </a:srgbClr>
            </a:solidFill>
            <a:prstDash val="solid"/>
          </a:ln>
        </p:spPr>
      </p:sp>
      <p:sp>
        <p:nvSpPr>
          <p:cNvPr id="5" name="deco-col-Left-label"/>
          <p:cNvSpPr/>
          <p:nvPr/>
        </p:nvSpPr>
        <p:spPr>
          <a:xfrm>
            <a:off x="902513" y="1773936"/>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Warga</a:t>
            </a:r>
            <a:endParaRPr lang="en-US" sz="2000" dirty="0"/>
          </a:p>
        </p:txBody>
      </p:sp>
      <p:sp>
        <p:nvSpPr>
          <p:cNvPr id="6" name="slides-field:Left"/>
          <p:cNvSpPr/>
          <p:nvPr/>
        </p:nvSpPr>
        <p:spPr>
          <a:xfrm>
            <a:off x="902513" y="2322576"/>
            <a:ext cx="4626407" cy="320040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Iuran dan unggah bukti bayar</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Ajukan surat dan dokumen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Lihat kegiatan dan ikut mendaftar</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Belanja atau berjualan di pasar warga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Lihat data diri dan keluarga</a:t>
            </a:r>
            <a:endParaRPr lang="en-US" sz="1600" dirty="0"/>
          </a:p>
        </p:txBody>
      </p:sp>
      <p:sp>
        <p:nvSpPr>
          <p:cNvPr id="7" name="deco-col-Right"/>
          <p:cNvSpPr/>
          <p:nvPr/>
        </p:nvSpPr>
        <p:spPr>
          <a:xfrm>
            <a:off x="6370168" y="1536192"/>
            <a:ext cx="5211623" cy="4206240"/>
          </a:xfrm>
          <a:prstGeom prst="roundRect">
            <a:avLst>
              <a:gd name="adj" fmla="val 2174"/>
            </a:avLst>
          </a:prstGeom>
          <a:solidFill>
            <a:srgbClr val="232323">
              <a:alpha val="6000"/>
            </a:srgbClr>
          </a:solidFill>
          <a:ln w="12700">
            <a:solidFill>
              <a:srgbClr val="232323">
                <a:alpha val="0"/>
              </a:srgbClr>
            </a:solidFill>
            <a:prstDash val="solid"/>
          </a:ln>
        </p:spPr>
      </p:sp>
      <p:sp>
        <p:nvSpPr>
          <p:cNvPr id="8" name="deco-col-Right-label"/>
          <p:cNvSpPr/>
          <p:nvPr/>
        </p:nvSpPr>
        <p:spPr>
          <a:xfrm>
            <a:off x="6662776" y="1773936"/>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Pengurus</a:t>
            </a:r>
            <a:endParaRPr lang="en-US" sz="2000" dirty="0"/>
          </a:p>
        </p:txBody>
      </p:sp>
      <p:sp>
        <p:nvSpPr>
          <p:cNvPr id="9" name="slides-field:Right"/>
          <p:cNvSpPr/>
          <p:nvPr/>
        </p:nvSpPr>
        <p:spPr>
          <a:xfrm>
            <a:off x="6662776" y="2322576"/>
            <a:ext cx="4626407" cy="320040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Verifikasi bukti pembayaran iuran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Bantuan penandaan bukti mencurigakan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Kelola kegiatan dan jadwal</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Kelola pasar warga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Lihat data kependudukan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5</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Gambaran tampilan aplikasi</a:t>
            </a:r>
            <a:endParaRPr lang="en-US" sz="3200" dirty="0"/>
          </a:p>
        </p:txBody>
      </p:sp>
      <p:sp>
        <p:nvSpPr>
          <p:cNvPr id="18"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Gambaran tampilan aplikasi, bukan tangkapan layar. Angka dan nama pada gambar hanya contoh.</a:t>
            </a:r>
            <a:endParaRPr lang="en-US" sz="1600" dirty="0"/>
          </a:p>
        </p:txBody>
      </p:sp>
      <p:pic>
        <p:nvPicPr>
          <p:cNvPr id="20" name="Picture 19">
            <a:extLst>
              <a:ext uri="{FF2B5EF4-FFF2-40B4-BE49-F238E27FC236}">
                <a16:creationId xmlns:a16="http://schemas.microsoft.com/office/drawing/2014/main" id="{BAA86B0A-381C-0D8C-FA49-8C78195A3418}"/>
              </a:ext>
            </a:extLst>
          </p:cNvPr>
          <p:cNvPicPr>
            <a:picLocks noChangeAspect="1"/>
          </p:cNvPicPr>
          <p:nvPr/>
        </p:nvPicPr>
        <p:blipFill>
          <a:blip r:embed="rId3"/>
          <a:stretch>
            <a:fillRect/>
          </a:stretch>
        </p:blipFill>
        <p:spPr>
          <a:xfrm>
            <a:off x="1352355" y="1176751"/>
            <a:ext cx="9486986" cy="45044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6</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Alur iuran yang lebih rapi</a:t>
            </a:r>
            <a:endParaRPr lang="en-US" sz="3200" dirty="0"/>
          </a:p>
        </p:txBody>
      </p:sp>
      <p:sp>
        <p:nvSpPr>
          <p:cNvPr id="4" name="deco-step-1"/>
          <p:cNvSpPr/>
          <p:nvPr/>
        </p:nvSpPr>
        <p:spPr>
          <a:xfrm>
            <a:off x="609905" y="1737360"/>
            <a:ext cx="2400071" cy="3017520"/>
          </a:xfrm>
          <a:prstGeom prst="roundRect">
            <a:avLst>
              <a:gd name="adj" fmla="val 3810"/>
            </a:avLst>
          </a:prstGeom>
          <a:solidFill>
            <a:srgbClr val="E1621B">
              <a:alpha val="8000"/>
            </a:srgbClr>
          </a:solidFill>
          <a:ln w="12700">
            <a:solidFill>
              <a:srgbClr val="232323">
                <a:alpha val="0"/>
              </a:srgbClr>
            </a:solidFill>
            <a:prstDash val="solid"/>
          </a:ln>
        </p:spPr>
      </p:sp>
      <p:sp>
        <p:nvSpPr>
          <p:cNvPr id="5" name="slides-field:Step1Label"/>
          <p:cNvSpPr/>
          <p:nvPr/>
        </p:nvSpPr>
        <p:spPr>
          <a:xfrm>
            <a:off x="829361" y="1956816"/>
            <a:ext cx="1961159" cy="1267358"/>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Warga pilih bulan</a:t>
            </a:r>
            <a:endParaRPr lang="en-US" sz="2000" dirty="0"/>
          </a:p>
        </p:txBody>
      </p:sp>
      <p:sp>
        <p:nvSpPr>
          <p:cNvPr id="6" name="slides-field:Step1Detail"/>
          <p:cNvSpPr/>
          <p:nvPr/>
        </p:nvSpPr>
        <p:spPr>
          <a:xfrm>
            <a:off x="829361" y="3246120"/>
            <a:ext cx="1961159" cy="1327709"/>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Melihat tagihan yang harus dibayar.</a:t>
            </a:r>
            <a:endParaRPr lang="en-US" sz="1600" dirty="0"/>
          </a:p>
        </p:txBody>
      </p:sp>
      <p:sp>
        <p:nvSpPr>
          <p:cNvPr id="7" name="deco-step-link-1"/>
          <p:cNvSpPr/>
          <p:nvPr/>
        </p:nvSpPr>
        <p:spPr>
          <a:xfrm>
            <a:off x="3046552" y="2148840"/>
            <a:ext cx="384048" cy="0"/>
          </a:xfrm>
          <a:prstGeom prst="line">
            <a:avLst/>
          </a:prstGeom>
          <a:noFill/>
          <a:ln w="25400">
            <a:solidFill>
              <a:srgbClr val="E1621B"/>
            </a:solidFill>
            <a:prstDash val="solid"/>
          </a:ln>
        </p:spPr>
      </p:sp>
      <p:sp>
        <p:nvSpPr>
          <p:cNvPr id="8" name="deco-step-2"/>
          <p:cNvSpPr/>
          <p:nvPr/>
        </p:nvSpPr>
        <p:spPr>
          <a:xfrm>
            <a:off x="3467176" y="1737360"/>
            <a:ext cx="2400071" cy="3017520"/>
          </a:xfrm>
          <a:prstGeom prst="roundRect">
            <a:avLst>
              <a:gd name="adj" fmla="val 3810"/>
            </a:avLst>
          </a:prstGeom>
          <a:solidFill>
            <a:srgbClr val="232323">
              <a:alpha val="6000"/>
            </a:srgbClr>
          </a:solidFill>
          <a:ln w="12700">
            <a:solidFill>
              <a:srgbClr val="232323">
                <a:alpha val="0"/>
              </a:srgbClr>
            </a:solidFill>
            <a:prstDash val="solid"/>
          </a:ln>
        </p:spPr>
      </p:sp>
      <p:sp>
        <p:nvSpPr>
          <p:cNvPr id="9" name="slides-field:Step2Label"/>
          <p:cNvSpPr/>
          <p:nvPr/>
        </p:nvSpPr>
        <p:spPr>
          <a:xfrm>
            <a:off x="3686632" y="1956816"/>
            <a:ext cx="1961159" cy="1267358"/>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Unggah bukti bayar</a:t>
            </a:r>
            <a:endParaRPr lang="en-US" sz="2000" dirty="0"/>
          </a:p>
        </p:txBody>
      </p:sp>
      <p:sp>
        <p:nvSpPr>
          <p:cNvPr id="10" name="slides-field:Step2Detail"/>
          <p:cNvSpPr/>
          <p:nvPr/>
        </p:nvSpPr>
        <p:spPr>
          <a:xfrm>
            <a:off x="3686632" y="3246120"/>
            <a:ext cx="1961159" cy="1327709"/>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Mengirim foto bukti transfer dari ponsel.</a:t>
            </a:r>
            <a:endParaRPr lang="en-US" sz="1600" dirty="0"/>
          </a:p>
        </p:txBody>
      </p:sp>
      <p:sp>
        <p:nvSpPr>
          <p:cNvPr id="11" name="deco-step-link-2"/>
          <p:cNvSpPr/>
          <p:nvPr/>
        </p:nvSpPr>
        <p:spPr>
          <a:xfrm>
            <a:off x="5903824" y="2148840"/>
            <a:ext cx="384048" cy="0"/>
          </a:xfrm>
          <a:prstGeom prst="line">
            <a:avLst/>
          </a:prstGeom>
          <a:noFill/>
          <a:ln w="25400">
            <a:solidFill>
              <a:srgbClr val="E1621B"/>
            </a:solidFill>
            <a:prstDash val="solid"/>
          </a:ln>
        </p:spPr>
      </p:sp>
      <p:sp>
        <p:nvSpPr>
          <p:cNvPr id="12" name="deco-step-3"/>
          <p:cNvSpPr/>
          <p:nvPr/>
        </p:nvSpPr>
        <p:spPr>
          <a:xfrm>
            <a:off x="6324448" y="1737360"/>
            <a:ext cx="2400071" cy="3017520"/>
          </a:xfrm>
          <a:prstGeom prst="roundRect">
            <a:avLst>
              <a:gd name="adj" fmla="val 3810"/>
            </a:avLst>
          </a:prstGeom>
          <a:solidFill>
            <a:srgbClr val="232323">
              <a:alpha val="6000"/>
            </a:srgbClr>
          </a:solidFill>
          <a:ln w="12700">
            <a:solidFill>
              <a:srgbClr val="232323">
                <a:alpha val="0"/>
              </a:srgbClr>
            </a:solidFill>
            <a:prstDash val="solid"/>
          </a:ln>
        </p:spPr>
      </p:sp>
      <p:sp>
        <p:nvSpPr>
          <p:cNvPr id="13" name="slides-field:Step3Label"/>
          <p:cNvSpPr/>
          <p:nvPr/>
        </p:nvSpPr>
        <p:spPr>
          <a:xfrm>
            <a:off x="6543904" y="1956816"/>
            <a:ext cx="1961159" cy="1267358"/>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Pengurus verifikasi</a:t>
            </a:r>
            <a:endParaRPr lang="en-US" sz="2000" dirty="0"/>
          </a:p>
        </p:txBody>
      </p:sp>
      <p:sp>
        <p:nvSpPr>
          <p:cNvPr id="14" name="slides-field:Step3Detail"/>
          <p:cNvSpPr/>
          <p:nvPr/>
        </p:nvSpPr>
        <p:spPr>
          <a:xfrm>
            <a:off x="6543904" y="3246120"/>
            <a:ext cx="1961159" cy="1327709"/>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Bendahara memeriksa, dibantu penandaan bukti mencurigakan.</a:t>
            </a:r>
            <a:endParaRPr lang="en-US" sz="1600" dirty="0"/>
          </a:p>
        </p:txBody>
      </p:sp>
      <p:sp>
        <p:nvSpPr>
          <p:cNvPr id="15" name="deco-step-link-3"/>
          <p:cNvSpPr/>
          <p:nvPr/>
        </p:nvSpPr>
        <p:spPr>
          <a:xfrm>
            <a:off x="8761095" y="2148840"/>
            <a:ext cx="384048" cy="0"/>
          </a:xfrm>
          <a:prstGeom prst="line">
            <a:avLst/>
          </a:prstGeom>
          <a:noFill/>
          <a:ln w="25400">
            <a:solidFill>
              <a:srgbClr val="E1621B"/>
            </a:solidFill>
            <a:prstDash val="solid"/>
          </a:ln>
        </p:spPr>
      </p:sp>
      <p:sp>
        <p:nvSpPr>
          <p:cNvPr id="16" name="deco-step-4"/>
          <p:cNvSpPr/>
          <p:nvPr/>
        </p:nvSpPr>
        <p:spPr>
          <a:xfrm>
            <a:off x="9181719" y="1737360"/>
            <a:ext cx="2400071" cy="3017520"/>
          </a:xfrm>
          <a:prstGeom prst="roundRect">
            <a:avLst>
              <a:gd name="adj" fmla="val 3810"/>
            </a:avLst>
          </a:prstGeom>
          <a:solidFill>
            <a:srgbClr val="232323">
              <a:alpha val="6000"/>
            </a:srgbClr>
          </a:solidFill>
          <a:ln w="12700">
            <a:solidFill>
              <a:srgbClr val="232323">
                <a:alpha val="0"/>
              </a:srgbClr>
            </a:solidFill>
            <a:prstDash val="solid"/>
          </a:ln>
        </p:spPr>
      </p:sp>
      <p:sp>
        <p:nvSpPr>
          <p:cNvPr id="17" name="slides-field:Step4Label"/>
          <p:cNvSpPr/>
          <p:nvPr/>
        </p:nvSpPr>
        <p:spPr>
          <a:xfrm>
            <a:off x="9401175" y="1956816"/>
            <a:ext cx="1961159" cy="1267358"/>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Tercatat</a:t>
            </a:r>
            <a:endParaRPr lang="en-US" sz="2000" dirty="0"/>
          </a:p>
        </p:txBody>
      </p:sp>
      <p:sp>
        <p:nvSpPr>
          <p:cNvPr id="18" name="slides-field:Step4Detail"/>
          <p:cNvSpPr/>
          <p:nvPr/>
        </p:nvSpPr>
        <p:spPr>
          <a:xfrm>
            <a:off x="9401175" y="3246120"/>
            <a:ext cx="1961159" cy="1327709"/>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Status pembayaran tersimpan di riwayat warga.</a:t>
            </a:r>
            <a:endParaRPr lang="en-US" sz="1600" dirty="0"/>
          </a:p>
        </p:txBody>
      </p:sp>
      <p:sp>
        <p:nvSpPr>
          <p:cNvPr id="19"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Tanpa pembayaran otomatis: bukti transfer tetap diunggah dan diverifikasi pengurus.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7</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Surat, dokumen, dan cara mengajukannya</a:t>
            </a:r>
            <a:endParaRPr lang="en-US" sz="3200" dirty="0"/>
          </a:p>
        </p:txBody>
      </p:sp>
      <p:sp>
        <p:nvSpPr>
          <p:cNvPr id="4" name="deco-list-head"/>
          <p:cNvSpPr/>
          <p:nvPr/>
        </p:nvSpPr>
        <p:spPr>
          <a:xfrm>
            <a:off x="609905" y="1481328"/>
            <a:ext cx="5029200" cy="41148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Surat yang bisa diajukan</a:t>
            </a:r>
            <a:endParaRPr lang="en-US" sz="2000" dirty="0"/>
          </a:p>
        </p:txBody>
      </p:sp>
      <p:sp>
        <p:nvSpPr>
          <p:cNvPr id="5" name="slides-field:Letter1"/>
          <p:cNvSpPr/>
          <p:nvPr/>
        </p:nvSpPr>
        <p:spPr>
          <a:xfrm>
            <a:off x="609905" y="197510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Surat Keterangan Domisili</a:t>
            </a:r>
            <a:endParaRPr lang="en-US" sz="2000" dirty="0"/>
          </a:p>
        </p:txBody>
      </p:sp>
      <p:sp>
        <p:nvSpPr>
          <p:cNvPr id="6" name="slides-field:Letter2"/>
          <p:cNvSpPr/>
          <p:nvPr/>
        </p:nvSpPr>
        <p:spPr>
          <a:xfrm>
            <a:off x="609905" y="252374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Surat Keterangan Tidak Mampu</a:t>
            </a:r>
            <a:endParaRPr lang="en-US" sz="2000" dirty="0"/>
          </a:p>
        </p:txBody>
      </p:sp>
      <p:sp>
        <p:nvSpPr>
          <p:cNvPr id="7" name="slides-field:Letter3"/>
          <p:cNvSpPr/>
          <p:nvPr/>
        </p:nvSpPr>
        <p:spPr>
          <a:xfrm>
            <a:off x="609905" y="307238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Surat Keterangan Usaha</a:t>
            </a:r>
            <a:endParaRPr lang="en-US" sz="2000" dirty="0"/>
          </a:p>
        </p:txBody>
      </p:sp>
      <p:sp>
        <p:nvSpPr>
          <p:cNvPr id="8" name="slides-field:Letter4"/>
          <p:cNvSpPr/>
          <p:nvPr/>
        </p:nvSpPr>
        <p:spPr>
          <a:xfrm>
            <a:off x="609905" y="362102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Permohonan Koreksi Data</a:t>
            </a:r>
            <a:endParaRPr lang="en-US" sz="2000" dirty="0"/>
          </a:p>
        </p:txBody>
      </p:sp>
      <p:sp>
        <p:nvSpPr>
          <p:cNvPr id="9" name="slides-field:Letter5"/>
          <p:cNvSpPr/>
          <p:nvPr/>
        </p:nvSpPr>
        <p:spPr>
          <a:xfrm>
            <a:off x="609905" y="416966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Surat Keterangan Keluarga</a:t>
            </a:r>
            <a:endParaRPr lang="en-US" sz="2000" dirty="0"/>
          </a:p>
        </p:txBody>
      </p:sp>
      <p:sp>
        <p:nvSpPr>
          <p:cNvPr id="10" name="slides-field:Letter6"/>
          <p:cNvSpPr/>
          <p:nvPr/>
        </p:nvSpPr>
        <p:spPr>
          <a:xfrm>
            <a:off x="609905" y="4718304"/>
            <a:ext cx="5029200" cy="384048"/>
          </a:xfrm>
          <a:prstGeom prst="rect">
            <a:avLst/>
          </a:prstGeom>
          <a:noFill/>
          <a:ln/>
        </p:spPr>
        <p:txBody>
          <a:bodyPr wrap="square" lIns="0" tIns="0" rIns="0" bIns="0" rtlCol="0" anchor="t"/>
          <a:lstStyle/>
          <a:p>
            <a:pPr marL="342900" indent="-342900">
              <a:buSzPct val="100000"/>
              <a:buChar char="•"/>
            </a:pPr>
            <a:r>
              <a:rPr lang="en-US" sz="2000" dirty="0">
                <a:solidFill>
                  <a:srgbClr val="232323"/>
                </a:solidFill>
                <a:latin typeface="Segoe UI" pitchFamily="34" charset="0"/>
                <a:ea typeface="Segoe UI" pitchFamily="34" charset="-122"/>
                <a:cs typeface="Segoe UI" pitchFamily="34" charset="-120"/>
              </a:rPr>
              <a:t>Surat Lainnya</a:t>
            </a:r>
            <a:endParaRPr lang="en-US" sz="2000" dirty="0"/>
          </a:p>
        </p:txBody>
      </p:sp>
      <p:sp>
        <p:nvSpPr>
          <p:cNvPr id="11" name="deco-flow-panel"/>
          <p:cNvSpPr/>
          <p:nvPr/>
        </p:nvSpPr>
        <p:spPr>
          <a:xfrm>
            <a:off x="6279185" y="1481328"/>
            <a:ext cx="5302606" cy="4206240"/>
          </a:xfrm>
          <a:prstGeom prst="roundRect">
            <a:avLst>
              <a:gd name="adj" fmla="val 2174"/>
            </a:avLst>
          </a:prstGeom>
          <a:solidFill>
            <a:srgbClr val="232323">
              <a:alpha val="6000"/>
            </a:srgbClr>
          </a:solidFill>
          <a:ln w="12700">
            <a:solidFill>
              <a:srgbClr val="232323">
                <a:alpha val="0"/>
              </a:srgbClr>
            </a:solidFill>
            <a:prstDash val="solid"/>
          </a:ln>
        </p:spPr>
      </p:sp>
      <p:sp>
        <p:nvSpPr>
          <p:cNvPr id="12" name="deco-flow-head"/>
          <p:cNvSpPr/>
          <p:nvPr/>
        </p:nvSpPr>
        <p:spPr>
          <a:xfrm>
            <a:off x="6590081" y="1719072"/>
            <a:ext cx="4680814" cy="41148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Alurnya</a:t>
            </a:r>
            <a:endParaRPr lang="en-US" sz="2000" dirty="0"/>
          </a:p>
        </p:txBody>
      </p:sp>
      <p:sp>
        <p:nvSpPr>
          <p:cNvPr id="13" name="deco-flow-num-1"/>
          <p:cNvSpPr/>
          <p:nvPr/>
        </p:nvSpPr>
        <p:spPr>
          <a:xfrm>
            <a:off x="6590081" y="2231136"/>
            <a:ext cx="420624" cy="420624"/>
          </a:xfrm>
          <a:prstGeom prst="roundRect">
            <a:avLst>
              <a:gd name="adj" fmla="val 21739"/>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1</a:t>
            </a:r>
            <a:endParaRPr lang="en-US" sz="2000" dirty="0"/>
          </a:p>
        </p:txBody>
      </p:sp>
      <p:sp>
        <p:nvSpPr>
          <p:cNvPr id="14" name="slides-field:Flow1"/>
          <p:cNvSpPr/>
          <p:nvPr/>
        </p:nvSpPr>
        <p:spPr>
          <a:xfrm>
            <a:off x="7193585" y="2249424"/>
            <a:ext cx="4059022" cy="768096"/>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Pilih jenis layanan</a:t>
            </a:r>
            <a:endParaRPr lang="en-US" sz="2000" dirty="0"/>
          </a:p>
        </p:txBody>
      </p:sp>
      <p:sp>
        <p:nvSpPr>
          <p:cNvPr id="15" name="deco-flow-num-2"/>
          <p:cNvSpPr/>
          <p:nvPr/>
        </p:nvSpPr>
        <p:spPr>
          <a:xfrm>
            <a:off x="6590081" y="3072384"/>
            <a:ext cx="420624" cy="420624"/>
          </a:xfrm>
          <a:prstGeom prst="roundRect">
            <a:avLst>
              <a:gd name="adj" fmla="val 21739"/>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2</a:t>
            </a:r>
            <a:endParaRPr lang="en-US" sz="2000" dirty="0"/>
          </a:p>
        </p:txBody>
      </p:sp>
      <p:sp>
        <p:nvSpPr>
          <p:cNvPr id="16" name="slides-field:Flow2"/>
          <p:cNvSpPr/>
          <p:nvPr/>
        </p:nvSpPr>
        <p:spPr>
          <a:xfrm>
            <a:off x="7193585" y="3090672"/>
            <a:ext cx="4059022" cy="768096"/>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Isi tujuan pengajuan dan catatan</a:t>
            </a:r>
            <a:endParaRPr lang="en-US" sz="2000" dirty="0"/>
          </a:p>
        </p:txBody>
      </p:sp>
      <p:sp>
        <p:nvSpPr>
          <p:cNvPr id="17" name="deco-flow-num-3"/>
          <p:cNvSpPr/>
          <p:nvPr/>
        </p:nvSpPr>
        <p:spPr>
          <a:xfrm>
            <a:off x="6590081" y="3913632"/>
            <a:ext cx="420624" cy="420624"/>
          </a:xfrm>
          <a:prstGeom prst="roundRect">
            <a:avLst>
              <a:gd name="adj" fmla="val 21739"/>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3</a:t>
            </a:r>
            <a:endParaRPr lang="en-US" sz="2000" dirty="0"/>
          </a:p>
        </p:txBody>
      </p:sp>
      <p:sp>
        <p:nvSpPr>
          <p:cNvPr id="18" name="slides-field:Flow3"/>
          <p:cNvSpPr/>
          <p:nvPr/>
        </p:nvSpPr>
        <p:spPr>
          <a:xfrm>
            <a:off x="7193585" y="3931920"/>
            <a:ext cx="4059022" cy="768096"/>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Unggah lampiran dari ponsel</a:t>
            </a:r>
            <a:endParaRPr lang="en-US" sz="2000" dirty="0"/>
          </a:p>
        </p:txBody>
      </p:sp>
      <p:sp>
        <p:nvSpPr>
          <p:cNvPr id="19" name="deco-flow-num-4"/>
          <p:cNvSpPr/>
          <p:nvPr/>
        </p:nvSpPr>
        <p:spPr>
          <a:xfrm>
            <a:off x="6590081" y="4754880"/>
            <a:ext cx="420624" cy="420624"/>
          </a:xfrm>
          <a:prstGeom prst="roundRect">
            <a:avLst>
              <a:gd name="adj" fmla="val 21739"/>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4</a:t>
            </a:r>
            <a:endParaRPr lang="en-US" sz="2000" dirty="0"/>
          </a:p>
        </p:txBody>
      </p:sp>
      <p:sp>
        <p:nvSpPr>
          <p:cNvPr id="20" name="slides-field:Flow4"/>
          <p:cNvSpPr/>
          <p:nvPr/>
        </p:nvSpPr>
        <p:spPr>
          <a:xfrm>
            <a:off x="7193585" y="4773168"/>
            <a:ext cx="4059022" cy="768096"/>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Kirim, lalu tunggu kabar pengurus</a:t>
            </a:r>
            <a:endParaRPr lang="en-US" sz="2000" dirty="0"/>
          </a:p>
        </p:txBody>
      </p:sp>
      <p:sp>
        <p:nvSpPr>
          <p:cNvPr id="21"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Semua diajukan dari ponsel, dan lampiran cukup difoto langsung dari ponsel.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8</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Cara mulai dan yang perlu disiapkan</a:t>
            </a:r>
            <a:endParaRPr lang="en-US" sz="3200" dirty="0"/>
          </a:p>
        </p:txBody>
      </p:sp>
      <p:sp>
        <p:nvSpPr>
          <p:cNvPr id="4" name="deco-start-num-1"/>
          <p:cNvSpPr/>
          <p:nvPr/>
        </p:nvSpPr>
        <p:spPr>
          <a:xfrm>
            <a:off x="609905" y="1591056"/>
            <a:ext cx="475488" cy="475488"/>
          </a:xfrm>
          <a:prstGeom prst="roundRect">
            <a:avLst>
              <a:gd name="adj" fmla="val 1923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1</a:t>
            </a:r>
            <a:endParaRPr lang="en-US" sz="2000" dirty="0"/>
          </a:p>
        </p:txBody>
      </p:sp>
      <p:sp>
        <p:nvSpPr>
          <p:cNvPr id="5" name="slides-field:Start1Label"/>
          <p:cNvSpPr/>
          <p:nvPr/>
        </p:nvSpPr>
        <p:spPr>
          <a:xfrm>
            <a:off x="1323137" y="1536192"/>
            <a:ext cx="5413248"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Daftar atau masuk</a:t>
            </a:r>
            <a:endParaRPr lang="en-US" sz="2000" dirty="0"/>
          </a:p>
        </p:txBody>
      </p:sp>
      <p:sp>
        <p:nvSpPr>
          <p:cNvPr id="6" name="slides-field:Start1Detail"/>
          <p:cNvSpPr/>
          <p:nvPr/>
        </p:nvSpPr>
        <p:spPr>
          <a:xfrm>
            <a:off x="1323137" y="1993392"/>
            <a:ext cx="5413248" cy="86868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Nama, email, dan kata sandi; bisa juga akun Google.</a:t>
            </a:r>
            <a:endParaRPr lang="en-US" sz="1600" dirty="0"/>
          </a:p>
        </p:txBody>
      </p:sp>
      <p:sp>
        <p:nvSpPr>
          <p:cNvPr id="7" name="deco-start-num-2"/>
          <p:cNvSpPr/>
          <p:nvPr/>
        </p:nvSpPr>
        <p:spPr>
          <a:xfrm>
            <a:off x="609905" y="3017520"/>
            <a:ext cx="475488" cy="475488"/>
          </a:xfrm>
          <a:prstGeom prst="roundRect">
            <a:avLst>
              <a:gd name="adj" fmla="val 1923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2</a:t>
            </a:r>
            <a:endParaRPr lang="en-US" sz="2000" dirty="0"/>
          </a:p>
        </p:txBody>
      </p:sp>
      <p:sp>
        <p:nvSpPr>
          <p:cNvPr id="8" name="slides-field:Start2Label"/>
          <p:cNvSpPr/>
          <p:nvPr/>
        </p:nvSpPr>
        <p:spPr>
          <a:xfrm>
            <a:off x="1323137" y="2962656"/>
            <a:ext cx="5413248"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Lengkapi data</a:t>
            </a:r>
            <a:endParaRPr lang="en-US" sz="2000" dirty="0"/>
          </a:p>
        </p:txBody>
      </p:sp>
      <p:sp>
        <p:nvSpPr>
          <p:cNvPr id="9" name="slides-field:Start2Detail"/>
          <p:cNvSpPr/>
          <p:nvPr/>
        </p:nvSpPr>
        <p:spPr>
          <a:xfrm>
            <a:off x="1323137" y="3419856"/>
            <a:ext cx="5413248" cy="86868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Isi data KTP dan KK, sekali saja saat pertama masuk.</a:t>
            </a:r>
            <a:endParaRPr lang="en-US" sz="1600" dirty="0"/>
          </a:p>
        </p:txBody>
      </p:sp>
      <p:sp>
        <p:nvSpPr>
          <p:cNvPr id="10" name="deco-start-num-3"/>
          <p:cNvSpPr/>
          <p:nvPr/>
        </p:nvSpPr>
        <p:spPr>
          <a:xfrm>
            <a:off x="609905" y="4443984"/>
            <a:ext cx="475488" cy="475488"/>
          </a:xfrm>
          <a:prstGeom prst="roundRect">
            <a:avLst>
              <a:gd name="adj" fmla="val 1923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232323"/>
                </a:solidFill>
                <a:latin typeface="Segoe UI" pitchFamily="34" charset="0"/>
                <a:ea typeface="Segoe UI" pitchFamily="34" charset="-122"/>
                <a:cs typeface="Segoe UI" pitchFamily="34" charset="-120"/>
              </a:rPr>
              <a:t>3</a:t>
            </a:r>
            <a:endParaRPr lang="en-US" sz="2000" dirty="0"/>
          </a:p>
        </p:txBody>
      </p:sp>
      <p:sp>
        <p:nvSpPr>
          <p:cNvPr id="11" name="slides-field:Start3Label"/>
          <p:cNvSpPr/>
          <p:nvPr/>
        </p:nvSpPr>
        <p:spPr>
          <a:xfrm>
            <a:off x="1323137" y="4389120"/>
            <a:ext cx="5413248"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Gunakan layanan</a:t>
            </a:r>
            <a:endParaRPr lang="en-US" sz="2000" dirty="0"/>
          </a:p>
        </p:txBody>
      </p:sp>
      <p:sp>
        <p:nvSpPr>
          <p:cNvPr id="12" name="slides-field:Start3Detail"/>
          <p:cNvSpPr/>
          <p:nvPr/>
        </p:nvSpPr>
        <p:spPr>
          <a:xfrm>
            <a:off x="1323137" y="4846320"/>
            <a:ext cx="5413248" cy="868680"/>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Bayar iuran, ajukan surat, atau ikut kegiatan.</a:t>
            </a:r>
            <a:endParaRPr lang="en-US" sz="1600" dirty="0"/>
          </a:p>
        </p:txBody>
      </p:sp>
      <p:sp>
        <p:nvSpPr>
          <p:cNvPr id="13" name="deco-prep-panel"/>
          <p:cNvSpPr/>
          <p:nvPr/>
        </p:nvSpPr>
        <p:spPr>
          <a:xfrm>
            <a:off x="7193585" y="1536192"/>
            <a:ext cx="4388206" cy="4206240"/>
          </a:xfrm>
          <a:prstGeom prst="roundRect">
            <a:avLst>
              <a:gd name="adj" fmla="val 2174"/>
            </a:avLst>
          </a:prstGeom>
          <a:solidFill>
            <a:srgbClr val="232323">
              <a:alpha val="6000"/>
            </a:srgbClr>
          </a:solidFill>
          <a:ln w="12700">
            <a:solidFill>
              <a:srgbClr val="232323">
                <a:alpha val="0"/>
              </a:srgbClr>
            </a:solidFill>
            <a:prstDash val="solid"/>
          </a:ln>
        </p:spPr>
      </p:sp>
      <p:sp>
        <p:nvSpPr>
          <p:cNvPr id="14" name="deco-prep-head"/>
          <p:cNvSpPr/>
          <p:nvPr/>
        </p:nvSpPr>
        <p:spPr>
          <a:xfrm>
            <a:off x="7467905" y="1773936"/>
            <a:ext cx="3839566" cy="41148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Yang perlu disiapkan</a:t>
            </a:r>
            <a:endParaRPr lang="en-US" sz="2000" dirty="0"/>
          </a:p>
        </p:txBody>
      </p:sp>
      <p:sp>
        <p:nvSpPr>
          <p:cNvPr id="15" name="slides-field:Prep1"/>
          <p:cNvSpPr/>
          <p:nvPr/>
        </p:nvSpPr>
        <p:spPr>
          <a:xfrm>
            <a:off x="7467905" y="2377440"/>
            <a:ext cx="3839566" cy="457200"/>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Ponsel Android</a:t>
            </a:r>
            <a:endParaRPr lang="en-US" sz="2000" dirty="0"/>
          </a:p>
        </p:txBody>
      </p:sp>
      <p:sp>
        <p:nvSpPr>
          <p:cNvPr id="16" name="slides-field:Prep2"/>
          <p:cNvSpPr/>
          <p:nvPr/>
        </p:nvSpPr>
        <p:spPr>
          <a:xfrm>
            <a:off x="7467905" y="3108960"/>
            <a:ext cx="3839566" cy="457200"/>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Email yang aktif</a:t>
            </a:r>
            <a:endParaRPr lang="en-US" sz="2000" dirty="0"/>
          </a:p>
        </p:txBody>
      </p:sp>
      <p:sp>
        <p:nvSpPr>
          <p:cNvPr id="17" name="slides-field:Prep3"/>
          <p:cNvSpPr/>
          <p:nvPr/>
        </p:nvSpPr>
        <p:spPr>
          <a:xfrm>
            <a:off x="7467905" y="3840480"/>
            <a:ext cx="3839566" cy="457200"/>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NIK dan data KTP</a:t>
            </a:r>
            <a:endParaRPr lang="en-US" sz="2000" dirty="0"/>
          </a:p>
        </p:txBody>
      </p:sp>
      <p:sp>
        <p:nvSpPr>
          <p:cNvPr id="18" name="slides-field:Prep4"/>
          <p:cNvSpPr/>
          <p:nvPr/>
        </p:nvSpPr>
        <p:spPr>
          <a:xfrm>
            <a:off x="7467905" y="4572000"/>
            <a:ext cx="3839566" cy="457200"/>
          </a:xfrm>
          <a:prstGeom prst="rect">
            <a:avLst/>
          </a:prstGeom>
          <a:noFill/>
          <a:ln/>
        </p:spPr>
        <p:txBody>
          <a:bodyPr wrap="square" lIns="0" tIns="0" rIns="0" bIns="0" rtlCol="0" anchor="t"/>
          <a:lstStyle/>
          <a:p>
            <a:pPr marL="0" indent="0">
              <a:buNone/>
            </a:pPr>
            <a:r>
              <a:rPr lang="en-US" sz="2000" dirty="0">
                <a:solidFill>
                  <a:srgbClr val="232323"/>
                </a:solidFill>
                <a:latin typeface="Segoe UI" pitchFamily="34" charset="0"/>
                <a:ea typeface="Segoe UI" pitchFamily="34" charset="-122"/>
                <a:cs typeface="Segoe UI" pitchFamily="34" charset="-120"/>
              </a:rPr>
              <a:t>Nomor Kartu Keluarga</a:t>
            </a:r>
            <a:endParaRPr lang="en-US" sz="2000" dirty="0"/>
          </a:p>
        </p:txBody>
      </p:sp>
      <p:sp>
        <p:nvSpPr>
          <p:cNvPr id="19"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Lupa kata sandi? Pakai menu Lupa kata sandi di halaman masuk.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9</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Peran pengguna dan data warga</a:t>
            </a:r>
            <a:endParaRPr lang="en-US" sz="3200" dirty="0"/>
          </a:p>
        </p:txBody>
      </p:sp>
      <p:sp>
        <p:nvSpPr>
          <p:cNvPr id="4" name="deco-col-Left"/>
          <p:cNvSpPr/>
          <p:nvPr/>
        </p:nvSpPr>
        <p:spPr>
          <a:xfrm>
            <a:off x="609905" y="1536192"/>
            <a:ext cx="5211623" cy="4206240"/>
          </a:xfrm>
          <a:prstGeom prst="roundRect">
            <a:avLst>
              <a:gd name="adj" fmla="val 2174"/>
            </a:avLst>
          </a:prstGeom>
          <a:solidFill>
            <a:srgbClr val="E1621B">
              <a:alpha val="8000"/>
            </a:srgbClr>
          </a:solidFill>
          <a:ln w="12700">
            <a:solidFill>
              <a:srgbClr val="232323">
                <a:alpha val="0"/>
              </a:srgbClr>
            </a:solidFill>
            <a:prstDash val="solid"/>
          </a:ln>
        </p:spPr>
      </p:sp>
      <p:sp>
        <p:nvSpPr>
          <p:cNvPr id="5" name="deco-col-Left-label"/>
          <p:cNvSpPr/>
          <p:nvPr/>
        </p:nvSpPr>
        <p:spPr>
          <a:xfrm>
            <a:off x="902513" y="1773936"/>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Siapa yang memakai</a:t>
            </a:r>
            <a:endParaRPr lang="en-US" sz="2000" dirty="0"/>
          </a:p>
        </p:txBody>
      </p:sp>
      <p:sp>
        <p:nvSpPr>
          <p:cNvPr id="6" name="slides-field:Left"/>
          <p:cNvSpPr/>
          <p:nvPr/>
        </p:nvSpPr>
        <p:spPr>
          <a:xfrm>
            <a:off x="902513" y="2322576"/>
            <a:ext cx="4626407" cy="320040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Warga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Pengurus RT</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Bendahara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Sekretaris</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Pengurus RW - masih disiapkan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Admin - masih disiapkan</a:t>
            </a:r>
            <a:endParaRPr lang="en-US" sz="1600" dirty="0"/>
          </a:p>
        </p:txBody>
      </p:sp>
      <p:sp>
        <p:nvSpPr>
          <p:cNvPr id="7" name="deco-col-Right"/>
          <p:cNvSpPr/>
          <p:nvPr/>
        </p:nvSpPr>
        <p:spPr>
          <a:xfrm>
            <a:off x="6370168" y="1536192"/>
            <a:ext cx="5211623" cy="4206240"/>
          </a:xfrm>
          <a:prstGeom prst="roundRect">
            <a:avLst>
              <a:gd name="adj" fmla="val 2174"/>
            </a:avLst>
          </a:prstGeom>
          <a:solidFill>
            <a:srgbClr val="232323">
              <a:alpha val="6000"/>
            </a:srgbClr>
          </a:solidFill>
          <a:ln w="12700">
            <a:solidFill>
              <a:srgbClr val="232323">
                <a:alpha val="0"/>
              </a:srgbClr>
            </a:solidFill>
            <a:prstDash val="solid"/>
          </a:ln>
        </p:spPr>
      </p:sp>
      <p:sp>
        <p:nvSpPr>
          <p:cNvPr id="8" name="deco-col-Right-label"/>
          <p:cNvSpPr/>
          <p:nvPr/>
        </p:nvSpPr>
        <p:spPr>
          <a:xfrm>
            <a:off x="6662776" y="1773936"/>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Siapa yang bisa melihat</a:t>
            </a:r>
            <a:endParaRPr lang="en-US" sz="2000" dirty="0"/>
          </a:p>
        </p:txBody>
      </p:sp>
      <p:sp>
        <p:nvSpPr>
          <p:cNvPr id="9" name="slides-field:Right"/>
          <p:cNvSpPr/>
          <p:nvPr/>
        </p:nvSpPr>
        <p:spPr>
          <a:xfrm>
            <a:off x="6662776" y="2322576"/>
            <a:ext cx="4626407" cy="320040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Data diisi sendiri oleh warga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Tampilan dan menu dipisah menurut peran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Hanya pengurus terkait yang melihat data yang diperlukan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Data bisa diperbaiki bila ada yang keliru</a:t>
            </a:r>
            <a:endParaRPr lang="en-US" sz="1600" dirty="0"/>
          </a:p>
        </p:txBody>
      </p:sp>
      <p:sp>
        <p:nvSpPr>
          <p:cNvPr id="10"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Aturan rinci soal penyimpanan data masih perlu ditetapkan bersama pengurus.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10</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Sudah tersedia, dan manfaatnya</a:t>
            </a:r>
            <a:endParaRPr lang="en-US" sz="3200" dirty="0"/>
          </a:p>
        </p:txBody>
      </p:sp>
      <p:sp>
        <p:nvSpPr>
          <p:cNvPr id="4" name="deco-col-Left"/>
          <p:cNvSpPr/>
          <p:nvPr/>
        </p:nvSpPr>
        <p:spPr>
          <a:xfrm>
            <a:off x="609905" y="1517904"/>
            <a:ext cx="5211623" cy="4160520"/>
          </a:xfrm>
          <a:prstGeom prst="roundRect">
            <a:avLst>
              <a:gd name="adj" fmla="val 2198"/>
            </a:avLst>
          </a:prstGeom>
          <a:solidFill>
            <a:srgbClr val="E1621B">
              <a:alpha val="8000"/>
            </a:srgbClr>
          </a:solidFill>
          <a:ln w="12700">
            <a:solidFill>
              <a:srgbClr val="232323">
                <a:alpha val="0"/>
              </a:srgbClr>
            </a:solidFill>
            <a:prstDash val="solid"/>
          </a:ln>
        </p:spPr>
      </p:sp>
      <p:sp>
        <p:nvSpPr>
          <p:cNvPr id="5" name="deco-col-Left-label"/>
          <p:cNvSpPr/>
          <p:nvPr/>
        </p:nvSpPr>
        <p:spPr>
          <a:xfrm>
            <a:off x="902513" y="1755648"/>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Sudah bisa dipakai</a:t>
            </a:r>
            <a:endParaRPr lang="en-US" sz="2000" dirty="0"/>
          </a:p>
        </p:txBody>
      </p:sp>
      <p:sp>
        <p:nvSpPr>
          <p:cNvPr id="6" name="slides-field:Left"/>
          <p:cNvSpPr/>
          <p:nvPr/>
        </p:nvSpPr>
        <p:spPr>
          <a:xfrm>
            <a:off x="902513" y="2304288"/>
            <a:ext cx="4626407" cy="315468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Iuran: unggah bukti dan verifikasi</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Pengajuan surat dan dokumen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Kegiatan warga: lihat dan ikut</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Pasar warga</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Lihat data kependudukan dan keluarga</a:t>
            </a:r>
            <a:endParaRPr lang="en-US" sz="1600" dirty="0"/>
          </a:p>
        </p:txBody>
      </p:sp>
      <p:sp>
        <p:nvSpPr>
          <p:cNvPr id="7" name="deco-col-Right"/>
          <p:cNvSpPr/>
          <p:nvPr/>
        </p:nvSpPr>
        <p:spPr>
          <a:xfrm>
            <a:off x="6370168" y="1517904"/>
            <a:ext cx="5211623" cy="4160520"/>
          </a:xfrm>
          <a:prstGeom prst="roundRect">
            <a:avLst>
              <a:gd name="adj" fmla="val 2198"/>
            </a:avLst>
          </a:prstGeom>
          <a:solidFill>
            <a:srgbClr val="232323">
              <a:alpha val="6000"/>
            </a:srgbClr>
          </a:solidFill>
          <a:ln w="12700">
            <a:solidFill>
              <a:srgbClr val="232323">
                <a:alpha val="0"/>
              </a:srgbClr>
            </a:solidFill>
            <a:prstDash val="solid"/>
          </a:ln>
        </p:spPr>
      </p:sp>
      <p:sp>
        <p:nvSpPr>
          <p:cNvPr id="8" name="deco-col-Right-label"/>
          <p:cNvSpPr/>
          <p:nvPr/>
        </p:nvSpPr>
        <p:spPr>
          <a:xfrm>
            <a:off x="6662776" y="1755648"/>
            <a:ext cx="4626407" cy="457200"/>
          </a:xfrm>
          <a:prstGeom prst="rect">
            <a:avLst/>
          </a:prstGeom>
          <a:noFill/>
          <a:ln/>
        </p:spPr>
        <p:txBody>
          <a:bodyPr wrap="square" lIns="0" tIns="0" rIns="0" bIns="0" rtlCol="0" anchor="t"/>
          <a:lstStyle/>
          <a:p>
            <a:pPr marL="0" indent="0">
              <a:buNone/>
            </a:pPr>
            <a:r>
              <a:rPr lang="en-US" sz="2000" b="1" dirty="0">
                <a:solidFill>
                  <a:srgbClr val="232323"/>
                </a:solidFill>
                <a:latin typeface="Segoe UI" pitchFamily="34" charset="0"/>
                <a:ea typeface="Segoe UI" pitchFamily="34" charset="-122"/>
                <a:cs typeface="Segoe UI" pitchFamily="34" charset="-120"/>
              </a:rPr>
              <a:t>Masih disiapkan</a:t>
            </a:r>
            <a:endParaRPr lang="en-US" sz="2000" dirty="0"/>
          </a:p>
        </p:txBody>
      </p:sp>
      <p:sp>
        <p:nvSpPr>
          <p:cNvPr id="9" name="slides-field:Right"/>
          <p:cNvSpPr/>
          <p:nvPr/>
        </p:nvSpPr>
        <p:spPr>
          <a:xfrm>
            <a:off x="6662776" y="2304288"/>
            <a:ext cx="4626407" cy="3154680"/>
          </a:xfrm>
          <a:prstGeom prst="rect">
            <a:avLst/>
          </a:prstGeom>
          <a:noFill/>
          <a:ln/>
        </p:spPr>
        <p:txBody>
          <a:bodyPr wrap="square" lIns="0" tIns="0" rIns="0" bIns="0" rtlCol="0" anchor="t"/>
          <a:lstStyle/>
          <a:p>
            <a:pPr marL="0" indent="0">
              <a:buNone/>
            </a:pPr>
            <a:r>
              <a:rPr lang="en-US" sz="1600" dirty="0">
                <a:solidFill>
                  <a:srgbClr val="232323"/>
                </a:solidFill>
                <a:latin typeface="Segoe UI" pitchFamily="34" charset="0"/>
                <a:ea typeface="Segoe UI" pitchFamily="34" charset="-122"/>
                <a:cs typeface="Segoe UI" pitchFamily="34" charset="-120"/>
              </a:rPr>
              <a:t>• Kelola data warga oleh pengurus</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Kelola pengumuman dan laporan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Kelola iuran tingkat RW</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Verifikasi akun dan peran</a:t>
            </a:r>
            <a:endParaRPr lang="en-US" sz="1600" dirty="0"/>
          </a:p>
          <a:p>
            <a:pPr marL="0" indent="0">
              <a:buNone/>
            </a:pPr>
            <a:r>
              <a:rPr lang="en-US" sz="1600" dirty="0">
                <a:solidFill>
                  <a:srgbClr val="232323"/>
                </a:solidFill>
                <a:latin typeface="Segoe UI" pitchFamily="34" charset="0"/>
                <a:ea typeface="Segoe UI" pitchFamily="34" charset="-122"/>
                <a:cs typeface="Segoe UI" pitchFamily="34" charset="-120"/>
              </a:rPr>
              <a:t>• Cadangan data</a:t>
            </a:r>
            <a:endParaRPr lang="en-US" sz="1600" dirty="0"/>
          </a:p>
        </p:txBody>
      </p:sp>
      <p:sp>
        <p:nvSpPr>
          <p:cNvPr id="10" name="slides-field:Caption"/>
          <p:cNvSpPr/>
          <p:nvPr/>
        </p:nvSpPr>
        <p:spPr>
          <a:xfrm>
            <a:off x="609905" y="5852160"/>
            <a:ext cx="10971886" cy="384048"/>
          </a:xfrm>
          <a:prstGeom prst="rect">
            <a:avLst/>
          </a:prstGeom>
          <a:noFill/>
          <a:ln/>
        </p:spPr>
        <p:txBody>
          <a:bodyPr wrap="square" lIns="0" tIns="0" rIns="0" bIns="0" rtlCol="0" anchor="t"/>
          <a:lstStyle/>
          <a:p>
            <a:pPr marL="0" indent="0">
              <a:buNone/>
            </a:pPr>
            <a:r>
              <a:rPr lang="en-US" sz="1600" dirty="0">
                <a:solidFill>
                  <a:srgbClr val="6E655C"/>
                </a:solidFill>
                <a:latin typeface="Segoe UI" pitchFamily="34" charset="0"/>
                <a:ea typeface="Segoe UI" pitchFamily="34" charset="-122"/>
                <a:cs typeface="Segoe UI" pitchFamily="34" charset="-120"/>
              </a:rPr>
              <a:t>Manfaatnya: pengurus lebih rapi, warga lebih mudah, dan kegiatan lingkungan lebih terjaga.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s-role:composed">
    <p:bg>
      <p:bgPr>
        <a:solidFill>
          <a:srgbClr val="FAF6EF"/>
        </a:solidFill>
        <a:effectLst/>
      </p:bgPr>
    </p:bg>
    <p:spTree>
      <p:nvGrpSpPr>
        <p:cNvPr id="1" name=""/>
        <p:cNvGrpSpPr/>
        <p:nvPr/>
      </p:nvGrpSpPr>
      <p:grpSpPr>
        <a:xfrm>
          <a:off x="0" y="0"/>
          <a:ext cx="0" cy="0"/>
          <a:chOff x="0" y="0"/>
          <a:chExt cx="0" cy="0"/>
        </a:xfrm>
      </p:grpSpPr>
      <p:sp>
        <p:nvSpPr>
          <p:cNvPr id="2" name="deco-chip"/>
          <p:cNvSpPr/>
          <p:nvPr/>
        </p:nvSpPr>
        <p:spPr>
          <a:xfrm>
            <a:off x="609905" y="548640"/>
            <a:ext cx="530352" cy="530352"/>
          </a:xfrm>
          <a:prstGeom prst="roundRect">
            <a:avLst>
              <a:gd name="adj" fmla="val 17241"/>
            </a:avLst>
          </a:prstGeom>
          <a:solidFill>
            <a:srgbClr val="E1621B"/>
          </a:solidFill>
          <a:ln>
            <a:solidFill>
              <a:srgbClr val="E1621B"/>
            </a:solidFill>
          </a:ln>
        </p:spPr>
        <p:txBody>
          <a:bodyPr wrap="square" lIns="0" tIns="0" rIns="0" bIns="0" rtlCol="0" anchor="ctr"/>
          <a:lstStyle/>
          <a:p>
            <a:pPr marL="0" indent="0" algn="ctr">
              <a:buNone/>
            </a:pPr>
            <a:r>
              <a:rPr lang="en-US" sz="2000" b="1" dirty="0">
                <a:solidFill>
                  <a:srgbClr val="FAF6EF"/>
                </a:solidFill>
                <a:latin typeface="Segoe UI" pitchFamily="34" charset="0"/>
                <a:ea typeface="Segoe UI" pitchFamily="34" charset="-122"/>
                <a:cs typeface="Segoe UI" pitchFamily="34" charset="-120"/>
              </a:rPr>
              <a:t>11</a:t>
            </a:r>
            <a:endParaRPr lang="en-US" sz="2000" dirty="0"/>
          </a:p>
        </p:txBody>
      </p:sp>
      <p:sp>
        <p:nvSpPr>
          <p:cNvPr id="3" name="slides-lead:Title"/>
          <p:cNvSpPr/>
          <p:nvPr/>
        </p:nvSpPr>
        <p:spPr>
          <a:xfrm>
            <a:off x="1304849" y="548640"/>
            <a:ext cx="10276942" cy="713232"/>
          </a:xfrm>
          <a:prstGeom prst="rect">
            <a:avLst/>
          </a:prstGeom>
          <a:noFill/>
          <a:ln/>
        </p:spPr>
        <p:txBody>
          <a:bodyPr wrap="square" lIns="0" tIns="0" rIns="0" bIns="0" rtlCol="0" anchor="t"/>
          <a:lstStyle/>
          <a:p>
            <a:pPr marL="0" indent="0">
              <a:buNone/>
            </a:pPr>
            <a:r>
              <a:rPr lang="en-US" sz="3200" b="1" dirty="0">
                <a:solidFill>
                  <a:srgbClr val="232323"/>
                </a:solidFill>
                <a:latin typeface="Segoe UI" pitchFamily="34" charset="0"/>
                <a:ea typeface="Segoe UI" pitchFamily="34" charset="-122"/>
                <a:cs typeface="Segoe UI" pitchFamily="34" charset="-120"/>
              </a:rPr>
              <a:t>Rencana bertahap dan penutup</a:t>
            </a:r>
            <a:endParaRPr lang="en-US" sz="3200" dirty="0"/>
          </a:p>
        </p:txBody>
      </p:sp>
      <p:sp>
        <p:nvSpPr>
          <p:cNvPr id="4" name="deco-phase-rail"/>
          <p:cNvSpPr/>
          <p:nvPr/>
        </p:nvSpPr>
        <p:spPr>
          <a:xfrm>
            <a:off x="1809941" y="2395728"/>
            <a:ext cx="8571814" cy="0"/>
          </a:xfrm>
          <a:prstGeom prst="line">
            <a:avLst/>
          </a:prstGeom>
          <a:noFill/>
          <a:ln w="12700">
            <a:solidFill>
              <a:srgbClr val="6E655C"/>
            </a:solidFill>
            <a:prstDash val="solid"/>
          </a:ln>
        </p:spPr>
      </p:sp>
      <p:sp>
        <p:nvSpPr>
          <p:cNvPr id="5" name="deco-phase-dot-1"/>
          <p:cNvSpPr/>
          <p:nvPr/>
        </p:nvSpPr>
        <p:spPr>
          <a:xfrm>
            <a:off x="1681925" y="2267712"/>
            <a:ext cx="256032" cy="256032"/>
          </a:xfrm>
          <a:prstGeom prst="ellipse">
            <a:avLst/>
          </a:prstGeom>
          <a:solidFill>
            <a:srgbClr val="6E655C"/>
          </a:solidFill>
          <a:ln w="12700">
            <a:solidFill>
              <a:srgbClr val="6E655C"/>
            </a:solidFill>
            <a:prstDash val="solid"/>
          </a:ln>
        </p:spPr>
      </p:sp>
      <p:sp>
        <p:nvSpPr>
          <p:cNvPr id="6" name="deco-phase-label-1"/>
          <p:cNvSpPr/>
          <p:nvPr/>
        </p:nvSpPr>
        <p:spPr>
          <a:xfrm>
            <a:off x="609905" y="1627632"/>
            <a:ext cx="2400071" cy="411480"/>
          </a:xfrm>
          <a:prstGeom prst="rect">
            <a:avLst/>
          </a:prstGeom>
          <a:noFill/>
          <a:ln/>
        </p:spPr>
        <p:txBody>
          <a:bodyPr wrap="square" lIns="0" tIns="0" rIns="0" bIns="0" rtlCol="0" anchor="t"/>
          <a:lstStyle/>
          <a:p>
            <a:pPr marL="0" indent="0" algn="ctr">
              <a:buNone/>
            </a:pPr>
            <a:r>
              <a:rPr lang="en-US" sz="2000" b="1" dirty="0">
                <a:solidFill>
                  <a:srgbClr val="232323"/>
                </a:solidFill>
                <a:latin typeface="Segoe UI" pitchFamily="34" charset="0"/>
                <a:ea typeface="Segoe UI" pitchFamily="34" charset="-122"/>
                <a:cs typeface="Segoe UI" pitchFamily="34" charset="-120"/>
              </a:rPr>
              <a:t>Tahap 1</a:t>
            </a:r>
            <a:endParaRPr lang="en-US" sz="2000" dirty="0"/>
          </a:p>
        </p:txBody>
      </p:sp>
      <p:sp>
        <p:nvSpPr>
          <p:cNvPr id="7" name="slides-field:Phase1"/>
          <p:cNvSpPr/>
          <p:nvPr/>
        </p:nvSpPr>
        <p:spPr>
          <a:xfrm>
            <a:off x="609905" y="2651760"/>
            <a:ext cx="2400071" cy="914400"/>
          </a:xfrm>
          <a:prstGeom prst="rect">
            <a:avLst/>
          </a:prstGeom>
          <a:noFill/>
          <a:ln/>
        </p:spPr>
        <p:txBody>
          <a:bodyPr wrap="square" lIns="0" tIns="0" rIns="0" bIns="0" rtlCol="0" anchor="t"/>
          <a:lstStyle/>
          <a:p>
            <a:pPr marL="0" indent="0" algn="ctr">
              <a:buNone/>
            </a:pPr>
            <a:r>
              <a:rPr lang="en-US" sz="1600" dirty="0">
                <a:solidFill>
                  <a:srgbClr val="6E655C"/>
                </a:solidFill>
                <a:latin typeface="Segoe UI" pitchFamily="34" charset="0"/>
                <a:ea typeface="Segoe UI" pitchFamily="34" charset="-122"/>
                <a:cs typeface="Segoe UI" pitchFamily="34" charset="-120"/>
              </a:rPr>
              <a:t>Peragaan dan mengumpulkan masukan.</a:t>
            </a:r>
            <a:endParaRPr lang="en-US" sz="1600" dirty="0"/>
          </a:p>
        </p:txBody>
      </p:sp>
      <p:sp>
        <p:nvSpPr>
          <p:cNvPr id="8" name="deco-phase-dot-2"/>
          <p:cNvSpPr/>
          <p:nvPr/>
        </p:nvSpPr>
        <p:spPr>
          <a:xfrm>
            <a:off x="4539196" y="2267712"/>
            <a:ext cx="256032" cy="256032"/>
          </a:xfrm>
          <a:prstGeom prst="ellipse">
            <a:avLst/>
          </a:prstGeom>
          <a:solidFill>
            <a:srgbClr val="E1621B"/>
          </a:solidFill>
          <a:ln w="12700">
            <a:solidFill>
              <a:srgbClr val="E1621B"/>
            </a:solidFill>
            <a:prstDash val="solid"/>
          </a:ln>
        </p:spPr>
      </p:sp>
      <p:sp>
        <p:nvSpPr>
          <p:cNvPr id="9" name="deco-phase-label-2"/>
          <p:cNvSpPr/>
          <p:nvPr/>
        </p:nvSpPr>
        <p:spPr>
          <a:xfrm>
            <a:off x="3467176" y="1627632"/>
            <a:ext cx="2400071" cy="411480"/>
          </a:xfrm>
          <a:prstGeom prst="rect">
            <a:avLst/>
          </a:prstGeom>
          <a:noFill/>
          <a:ln/>
        </p:spPr>
        <p:txBody>
          <a:bodyPr wrap="square" lIns="0" tIns="0" rIns="0" bIns="0" rtlCol="0" anchor="t"/>
          <a:lstStyle/>
          <a:p>
            <a:pPr marL="0" indent="0" algn="ctr">
              <a:buNone/>
            </a:pPr>
            <a:r>
              <a:rPr lang="en-US" sz="2000" b="1" dirty="0">
                <a:solidFill>
                  <a:srgbClr val="E1621B"/>
                </a:solidFill>
                <a:latin typeface="Segoe UI" pitchFamily="34" charset="0"/>
                <a:ea typeface="Segoe UI" pitchFamily="34" charset="-122"/>
                <a:cs typeface="Segoe UI" pitchFamily="34" charset="-120"/>
              </a:rPr>
              <a:t>Tahap 2</a:t>
            </a:r>
            <a:endParaRPr lang="en-US" sz="2000" dirty="0"/>
          </a:p>
        </p:txBody>
      </p:sp>
      <p:sp>
        <p:nvSpPr>
          <p:cNvPr id="10" name="slides-field:Phase2"/>
          <p:cNvSpPr/>
          <p:nvPr/>
        </p:nvSpPr>
        <p:spPr>
          <a:xfrm>
            <a:off x="3467176" y="2651760"/>
            <a:ext cx="2400071" cy="914400"/>
          </a:xfrm>
          <a:prstGeom prst="rect">
            <a:avLst/>
          </a:prstGeom>
          <a:noFill/>
          <a:ln/>
        </p:spPr>
        <p:txBody>
          <a:bodyPr wrap="square" lIns="0" tIns="0" rIns="0" bIns="0" rtlCol="0" anchor="t"/>
          <a:lstStyle/>
          <a:p>
            <a:pPr marL="0" indent="0" algn="ctr">
              <a:buNone/>
            </a:pPr>
            <a:r>
              <a:rPr lang="en-US" sz="1600" dirty="0">
                <a:solidFill>
                  <a:srgbClr val="6E655C"/>
                </a:solidFill>
                <a:latin typeface="Segoe UI" pitchFamily="34" charset="0"/>
                <a:ea typeface="Segoe UI" pitchFamily="34" charset="-122"/>
                <a:cs typeface="Segoe UI" pitchFamily="34" charset="-120"/>
              </a:rPr>
              <a:t>Uji coba terbatas dengan beberapa warga dan pengurus.</a:t>
            </a:r>
            <a:endParaRPr lang="en-US" sz="1600" dirty="0"/>
          </a:p>
        </p:txBody>
      </p:sp>
      <p:sp>
        <p:nvSpPr>
          <p:cNvPr id="11" name="deco-phase-dot-3"/>
          <p:cNvSpPr/>
          <p:nvPr/>
        </p:nvSpPr>
        <p:spPr>
          <a:xfrm>
            <a:off x="7396467" y="2267712"/>
            <a:ext cx="256032" cy="256032"/>
          </a:xfrm>
          <a:prstGeom prst="ellipse">
            <a:avLst/>
          </a:prstGeom>
          <a:solidFill>
            <a:srgbClr val="6E655C"/>
          </a:solidFill>
          <a:ln w="12700">
            <a:solidFill>
              <a:srgbClr val="6E655C"/>
            </a:solidFill>
            <a:prstDash val="solid"/>
          </a:ln>
        </p:spPr>
      </p:sp>
      <p:sp>
        <p:nvSpPr>
          <p:cNvPr id="12" name="deco-phase-label-3"/>
          <p:cNvSpPr/>
          <p:nvPr/>
        </p:nvSpPr>
        <p:spPr>
          <a:xfrm>
            <a:off x="6324448" y="1627632"/>
            <a:ext cx="2400071" cy="411480"/>
          </a:xfrm>
          <a:prstGeom prst="rect">
            <a:avLst/>
          </a:prstGeom>
          <a:noFill/>
          <a:ln/>
        </p:spPr>
        <p:txBody>
          <a:bodyPr wrap="square" lIns="0" tIns="0" rIns="0" bIns="0" rtlCol="0" anchor="t"/>
          <a:lstStyle/>
          <a:p>
            <a:pPr marL="0" indent="0" algn="ctr">
              <a:buNone/>
            </a:pPr>
            <a:r>
              <a:rPr lang="en-US" sz="2000" b="1" dirty="0">
                <a:solidFill>
                  <a:srgbClr val="232323"/>
                </a:solidFill>
                <a:latin typeface="Segoe UI" pitchFamily="34" charset="0"/>
                <a:ea typeface="Segoe UI" pitchFamily="34" charset="-122"/>
                <a:cs typeface="Segoe UI" pitchFamily="34" charset="-120"/>
              </a:rPr>
              <a:t>Tahap 3</a:t>
            </a:r>
            <a:endParaRPr lang="en-US" sz="2000" dirty="0"/>
          </a:p>
        </p:txBody>
      </p:sp>
      <p:sp>
        <p:nvSpPr>
          <p:cNvPr id="13" name="slides-field:Phase3"/>
          <p:cNvSpPr/>
          <p:nvPr/>
        </p:nvSpPr>
        <p:spPr>
          <a:xfrm>
            <a:off x="6324448" y="2651760"/>
            <a:ext cx="2400071" cy="914400"/>
          </a:xfrm>
          <a:prstGeom prst="rect">
            <a:avLst/>
          </a:prstGeom>
          <a:noFill/>
          <a:ln/>
        </p:spPr>
        <p:txBody>
          <a:bodyPr wrap="square" lIns="0" tIns="0" rIns="0" bIns="0" rtlCol="0" anchor="t"/>
          <a:lstStyle/>
          <a:p>
            <a:pPr marL="0" indent="0" algn="ctr">
              <a:buNone/>
            </a:pPr>
            <a:r>
              <a:rPr lang="en-US" sz="1600" dirty="0">
                <a:solidFill>
                  <a:srgbClr val="6E655C"/>
                </a:solidFill>
                <a:latin typeface="Segoe UI" pitchFamily="34" charset="0"/>
                <a:ea typeface="Segoe UI" pitchFamily="34" charset="-122"/>
                <a:cs typeface="Segoe UI" pitchFamily="34" charset="-120"/>
              </a:rPr>
              <a:t>Perbaikan sesuai masukan.</a:t>
            </a:r>
            <a:endParaRPr lang="en-US" sz="1600" dirty="0"/>
          </a:p>
        </p:txBody>
      </p:sp>
      <p:sp>
        <p:nvSpPr>
          <p:cNvPr id="14" name="deco-phase-dot-4"/>
          <p:cNvSpPr/>
          <p:nvPr/>
        </p:nvSpPr>
        <p:spPr>
          <a:xfrm>
            <a:off x="10253739" y="2267712"/>
            <a:ext cx="256032" cy="256032"/>
          </a:xfrm>
          <a:prstGeom prst="ellipse">
            <a:avLst/>
          </a:prstGeom>
          <a:solidFill>
            <a:srgbClr val="6E655C"/>
          </a:solidFill>
          <a:ln w="12700">
            <a:solidFill>
              <a:srgbClr val="6E655C"/>
            </a:solidFill>
            <a:prstDash val="solid"/>
          </a:ln>
        </p:spPr>
      </p:sp>
      <p:sp>
        <p:nvSpPr>
          <p:cNvPr id="15" name="deco-phase-label-4"/>
          <p:cNvSpPr/>
          <p:nvPr/>
        </p:nvSpPr>
        <p:spPr>
          <a:xfrm>
            <a:off x="9181719" y="1627632"/>
            <a:ext cx="2400071" cy="411480"/>
          </a:xfrm>
          <a:prstGeom prst="rect">
            <a:avLst/>
          </a:prstGeom>
          <a:noFill/>
          <a:ln/>
        </p:spPr>
        <p:txBody>
          <a:bodyPr wrap="square" lIns="0" tIns="0" rIns="0" bIns="0" rtlCol="0" anchor="t"/>
          <a:lstStyle/>
          <a:p>
            <a:pPr marL="0" indent="0" algn="ctr">
              <a:buNone/>
            </a:pPr>
            <a:r>
              <a:rPr lang="en-US" sz="2000" b="1" dirty="0">
                <a:solidFill>
                  <a:srgbClr val="232323"/>
                </a:solidFill>
                <a:latin typeface="Segoe UI" pitchFamily="34" charset="0"/>
                <a:ea typeface="Segoe UI" pitchFamily="34" charset="-122"/>
                <a:cs typeface="Segoe UI" pitchFamily="34" charset="-120"/>
              </a:rPr>
              <a:t>Tahap 4</a:t>
            </a:r>
            <a:endParaRPr lang="en-US" sz="2000" dirty="0"/>
          </a:p>
        </p:txBody>
      </p:sp>
      <p:sp>
        <p:nvSpPr>
          <p:cNvPr id="16" name="slides-field:Phase4"/>
          <p:cNvSpPr/>
          <p:nvPr/>
        </p:nvSpPr>
        <p:spPr>
          <a:xfrm>
            <a:off x="9181719" y="2651760"/>
            <a:ext cx="2400071" cy="914400"/>
          </a:xfrm>
          <a:prstGeom prst="rect">
            <a:avLst/>
          </a:prstGeom>
          <a:noFill/>
          <a:ln/>
        </p:spPr>
        <p:txBody>
          <a:bodyPr wrap="square" lIns="0" tIns="0" rIns="0" bIns="0" rtlCol="0" anchor="t"/>
          <a:lstStyle/>
          <a:p>
            <a:pPr marL="0" indent="0" algn="ctr">
              <a:buNone/>
            </a:pPr>
            <a:r>
              <a:rPr lang="en-US" sz="1600" dirty="0">
                <a:solidFill>
                  <a:srgbClr val="6E655C"/>
                </a:solidFill>
                <a:latin typeface="Segoe UI" pitchFamily="34" charset="0"/>
                <a:ea typeface="Segoe UI" pitchFamily="34" charset="-122"/>
                <a:cs typeface="Segoe UI" pitchFamily="34" charset="-120"/>
              </a:rPr>
              <a:t>Peluasan setelah persetujuan pengurus.</a:t>
            </a:r>
            <a:endParaRPr lang="en-US" sz="1600" dirty="0"/>
          </a:p>
        </p:txBody>
      </p:sp>
      <p:sp>
        <p:nvSpPr>
          <p:cNvPr id="17" name="deco-close-panel"/>
          <p:cNvSpPr/>
          <p:nvPr/>
        </p:nvSpPr>
        <p:spPr>
          <a:xfrm>
            <a:off x="609905" y="3803904"/>
            <a:ext cx="10971886" cy="1920240"/>
          </a:xfrm>
          <a:prstGeom prst="roundRect">
            <a:avLst>
              <a:gd name="adj" fmla="val 4762"/>
            </a:avLst>
          </a:prstGeom>
          <a:solidFill>
            <a:srgbClr val="232323"/>
          </a:solidFill>
          <a:ln w="12700">
            <a:solidFill>
              <a:srgbClr val="232323"/>
            </a:solidFill>
            <a:prstDash val="solid"/>
          </a:ln>
        </p:spPr>
      </p:sp>
      <p:sp>
        <p:nvSpPr>
          <p:cNvPr id="18" name="slides-field:Thanks"/>
          <p:cNvSpPr/>
          <p:nvPr/>
        </p:nvSpPr>
        <p:spPr>
          <a:xfrm>
            <a:off x="1012241" y="4023360"/>
            <a:ext cx="6035040" cy="502920"/>
          </a:xfrm>
          <a:prstGeom prst="rect">
            <a:avLst/>
          </a:prstGeom>
          <a:noFill/>
          <a:ln/>
        </p:spPr>
        <p:txBody>
          <a:bodyPr wrap="square" lIns="0" tIns="0" rIns="0" bIns="0" rtlCol="0" anchor="t"/>
          <a:lstStyle/>
          <a:p>
            <a:pPr marL="0" indent="0">
              <a:buNone/>
            </a:pPr>
            <a:r>
              <a:rPr lang="en-US" sz="2000" b="1" dirty="0">
                <a:solidFill>
                  <a:srgbClr val="FAF6EF"/>
                </a:solidFill>
                <a:latin typeface="Segoe UI" pitchFamily="34" charset="0"/>
                <a:ea typeface="Segoe UI" pitchFamily="34" charset="-122"/>
                <a:cs typeface="Segoe UI" pitchFamily="34" charset="-120"/>
              </a:rPr>
              <a:t>Terima kasih</a:t>
            </a:r>
            <a:endParaRPr lang="en-US" sz="2000" dirty="0"/>
          </a:p>
        </p:txBody>
      </p:sp>
      <p:sp>
        <p:nvSpPr>
          <p:cNvPr id="19" name="slides-field:Closing"/>
          <p:cNvSpPr/>
          <p:nvPr/>
        </p:nvSpPr>
        <p:spPr>
          <a:xfrm>
            <a:off x="1012241" y="4590288"/>
            <a:ext cx="9875520" cy="457200"/>
          </a:xfrm>
          <a:prstGeom prst="rect">
            <a:avLst/>
          </a:prstGeom>
          <a:noFill/>
          <a:ln/>
        </p:spPr>
        <p:txBody>
          <a:bodyPr wrap="square" lIns="0" tIns="0" rIns="0" bIns="0" rtlCol="0" anchor="t"/>
          <a:lstStyle/>
          <a:p>
            <a:pPr marL="0" indent="0">
              <a:buNone/>
            </a:pPr>
            <a:r>
              <a:rPr lang="en-US" sz="2000" b="1" dirty="0">
                <a:solidFill>
                  <a:srgbClr val="E1621B"/>
                </a:solidFill>
                <a:latin typeface="Segoe UI" pitchFamily="34" charset="0"/>
                <a:ea typeface="Segoe UI" pitchFamily="34" charset="-122"/>
                <a:cs typeface="Segoe UI" pitchFamily="34" charset="-120"/>
              </a:rPr>
              <a:t>Mari Bangun Lingkungan yang Lebih Terhubung.</a:t>
            </a:r>
            <a:endParaRPr lang="en-US" sz="2000" dirty="0"/>
          </a:p>
        </p:txBody>
      </p:sp>
      <p:sp>
        <p:nvSpPr>
          <p:cNvPr id="20" name="slides-field:Contact"/>
          <p:cNvSpPr/>
          <p:nvPr/>
        </p:nvSpPr>
        <p:spPr>
          <a:xfrm>
            <a:off x="1012241" y="5138928"/>
            <a:ext cx="9875520" cy="365760"/>
          </a:xfrm>
          <a:prstGeom prst="rect">
            <a:avLst/>
          </a:prstGeom>
          <a:noFill/>
          <a:ln/>
        </p:spPr>
        <p:txBody>
          <a:bodyPr wrap="square" lIns="0" tIns="0" rIns="0" bIns="0" rtlCol="0" anchor="t"/>
          <a:lstStyle/>
          <a:p>
            <a:pPr marL="0" indent="0">
              <a:buNone/>
            </a:pPr>
            <a:r>
              <a:rPr lang="en-US" sz="1600" dirty="0">
                <a:solidFill>
                  <a:srgbClr val="FAF6EF"/>
                </a:solidFill>
                <a:latin typeface="Segoe UI" pitchFamily="34" charset="0"/>
                <a:ea typeface="Segoe UI" pitchFamily="34" charset="-122"/>
                <a:cs typeface="Segoe UI" pitchFamily="34" charset="-120"/>
              </a:rPr>
              <a:t>Narahubung: [Nama pengurus RT/RW] - [Nomor/WA]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1248</Words>
  <Application>Microsoft Office PowerPoint</Application>
  <PresentationFormat>Widescreen</PresentationFormat>
  <Paragraphs>149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slides-spec: wargaja.deck.md sha256:33fd082cc8c1808cc80c32a1321c88cf793272a006fa1bf9dc398380c42b2757</dc:description>
  <cp:lastModifiedBy>Muhammad Rakha Putra</cp:lastModifiedBy>
  <cp:revision>2</cp:revision>
  <dcterms:created xsi:type="dcterms:W3CDTF">2026-10-16T14:08:40Z</dcterms:created>
  <dcterms:modified xsi:type="dcterms:W3CDTF">2026-10-16T14:20:49Z</dcterms:modified>
</cp:coreProperties>
</file>